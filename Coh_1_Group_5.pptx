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2E2950-9654-4D8E-9596-183B0D14F3B2}" v="233" dt="2026-10-09T17:46:09.0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E835AC-F1BA-4A3B-BF8A-52E17945DB26}" type="doc">
      <dgm:prSet loTypeId="urn:microsoft.com/office/officeart/2018/2/layout/IconVerticalSolidList" loCatId="icon" qsTypeId="urn:microsoft.com/office/officeart/2005/8/quickstyle/3d3" qsCatId="3D" csTypeId="urn:microsoft.com/office/officeart/2005/8/colors/accent1_2" csCatId="accent1" phldr="1"/>
      <dgm:spPr/>
      <dgm:t>
        <a:bodyPr/>
        <a:lstStyle/>
        <a:p>
          <a:endParaRPr lang="en-US"/>
        </a:p>
      </dgm:t>
    </dgm:pt>
    <dgm:pt modelId="{3870D4CB-DC7E-45D7-BB5D-2E16AB32D526}">
      <dgm:prSet phldrT="[Text]" phldr="0"/>
      <dgm:spPr/>
      <dgm:t>
        <a:bodyPr/>
        <a:lstStyle/>
        <a:p>
          <a:pPr>
            <a:lnSpc>
              <a:spcPct val="100000"/>
            </a:lnSpc>
          </a:pPr>
          <a:r>
            <a:rPr lang="en-US" b="1">
              <a:latin typeface="Consolas"/>
            </a:rPr>
            <a:t>date</a:t>
          </a:r>
          <a:r>
            <a:rPr lang="en-US" b="1"/>
            <a:t>:</a:t>
          </a:r>
          <a:r>
            <a:rPr lang="en-US"/>
            <a:t> Represents the trading session day; used for time-series ordering, tracking gaps, and handling holidays.</a:t>
          </a:r>
        </a:p>
      </dgm:t>
    </dgm:pt>
    <dgm:pt modelId="{9EAB5ED8-D992-4A7D-B3ED-545BB72FDF85}" type="parTrans" cxnId="{23DBD05D-4374-44D9-BDFC-C0C65DC40DDC}">
      <dgm:prSet/>
      <dgm:spPr/>
      <dgm:t>
        <a:bodyPr/>
        <a:lstStyle/>
        <a:p>
          <a:endParaRPr lang="en-US"/>
        </a:p>
      </dgm:t>
    </dgm:pt>
    <dgm:pt modelId="{416A8762-F0A0-46E0-ADCA-36B2A85BE27E}" type="sibTrans" cxnId="{23DBD05D-4374-44D9-BDFC-C0C65DC40DDC}">
      <dgm:prSet/>
      <dgm:spPr/>
      <dgm:t>
        <a:bodyPr/>
        <a:lstStyle/>
        <a:p>
          <a:endParaRPr lang="en-US"/>
        </a:p>
      </dgm:t>
    </dgm:pt>
    <dgm:pt modelId="{B8892901-33E4-4768-B251-217259DB17F6}">
      <dgm:prSet phldrT="[Text]" phldr="0"/>
      <dgm:spPr/>
      <dgm:t>
        <a:bodyPr/>
        <a:lstStyle/>
        <a:p>
          <a:pPr>
            <a:lnSpc>
              <a:spcPct val="100000"/>
            </a:lnSpc>
          </a:pPr>
          <a:r>
            <a:rPr lang="en-US" b="1">
              <a:latin typeface="Consolas"/>
            </a:rPr>
            <a:t>open</a:t>
          </a:r>
          <a:r>
            <a:rPr lang="en-US" b="1"/>
            <a:t>:</a:t>
          </a:r>
          <a:r>
            <a:rPr lang="en-US"/>
            <a:t> The opening price of the stock at the sound of the opening bell in the morning.</a:t>
          </a:r>
        </a:p>
      </dgm:t>
    </dgm:pt>
    <dgm:pt modelId="{F7640B19-38D4-4B01-BC36-5D053B9FE61F}" type="parTrans" cxnId="{D9F1971F-7CAC-4281-89CC-68FD8EB52AEE}">
      <dgm:prSet/>
      <dgm:spPr/>
      <dgm:t>
        <a:bodyPr/>
        <a:lstStyle/>
        <a:p>
          <a:endParaRPr lang="en-US"/>
        </a:p>
      </dgm:t>
    </dgm:pt>
    <dgm:pt modelId="{02B31F01-9CD9-4C74-9640-BBADAE7ED5F8}" type="sibTrans" cxnId="{D9F1971F-7CAC-4281-89CC-68FD8EB52AEE}">
      <dgm:prSet/>
      <dgm:spPr/>
      <dgm:t>
        <a:bodyPr/>
        <a:lstStyle/>
        <a:p>
          <a:endParaRPr lang="en-US"/>
        </a:p>
      </dgm:t>
    </dgm:pt>
    <dgm:pt modelId="{54C17F6C-519E-497F-8EE2-0DED36706C7A}">
      <dgm:prSet phldrT="[Text]" phldr="0"/>
      <dgm:spPr/>
      <dgm:t>
        <a:bodyPr/>
        <a:lstStyle/>
        <a:p>
          <a:pPr>
            <a:lnSpc>
              <a:spcPct val="100000"/>
            </a:lnSpc>
          </a:pPr>
          <a:r>
            <a:rPr lang="en-US" b="1">
              <a:latin typeface="Consolas"/>
            </a:rPr>
            <a:t>high / low</a:t>
          </a:r>
          <a:r>
            <a:rPr lang="en-US" b="1"/>
            <a:t>:</a:t>
          </a:r>
          <a:r>
            <a:rPr lang="en-US"/>
            <a:t> The maximum and minimum prices reached by the stock during the session, reflecting buying and selling pressure.</a:t>
          </a:r>
        </a:p>
      </dgm:t>
    </dgm:pt>
    <dgm:pt modelId="{BAE6BDC5-736E-43E5-A8CB-7374759FB6E4}" type="parTrans" cxnId="{FA69AF0C-39EA-4A10-8981-4B51464F14B5}">
      <dgm:prSet/>
      <dgm:spPr/>
      <dgm:t>
        <a:bodyPr/>
        <a:lstStyle/>
        <a:p>
          <a:endParaRPr lang="en-US"/>
        </a:p>
      </dgm:t>
    </dgm:pt>
    <dgm:pt modelId="{048D0DB0-7358-415E-8BFB-2C34F6D7C8C2}" type="sibTrans" cxnId="{FA69AF0C-39EA-4A10-8981-4B51464F14B5}">
      <dgm:prSet/>
      <dgm:spPr/>
      <dgm:t>
        <a:bodyPr/>
        <a:lstStyle/>
        <a:p>
          <a:endParaRPr lang="en-US"/>
        </a:p>
      </dgm:t>
    </dgm:pt>
    <dgm:pt modelId="{210B5B05-8FC6-4727-B589-6B2F67AA6C43}">
      <dgm:prSet phldrT="[Text]" phldr="0"/>
      <dgm:spPr/>
      <dgm:t>
        <a:bodyPr/>
        <a:lstStyle/>
        <a:p>
          <a:pPr>
            <a:lnSpc>
              <a:spcPct val="100000"/>
            </a:lnSpc>
          </a:pPr>
          <a:r>
            <a:rPr lang="en-US" b="1">
              <a:latin typeface="Consolas"/>
            </a:rPr>
            <a:t>close</a:t>
          </a:r>
          <a:r>
            <a:rPr lang="en-US" b="1"/>
            <a:t>:</a:t>
          </a:r>
          <a:r>
            <a:rPr lang="en-US"/>
            <a:t> The final closing price, which is considered the most crucial and widely used column for mathematical and financial analysis.</a:t>
          </a:r>
        </a:p>
      </dgm:t>
    </dgm:pt>
    <dgm:pt modelId="{9E59FF41-547F-4FD8-84A9-9E84BAE6C506}" type="parTrans" cxnId="{BDBB518B-E55C-41CA-B58C-3FC6FA73C848}">
      <dgm:prSet/>
      <dgm:spPr/>
      <dgm:t>
        <a:bodyPr/>
        <a:lstStyle/>
        <a:p>
          <a:endParaRPr lang="en-US"/>
        </a:p>
      </dgm:t>
    </dgm:pt>
    <dgm:pt modelId="{53B5510D-6B24-47FA-BFBE-1297431CF25F}" type="sibTrans" cxnId="{BDBB518B-E55C-41CA-B58C-3FC6FA73C848}">
      <dgm:prSet/>
      <dgm:spPr/>
      <dgm:t>
        <a:bodyPr/>
        <a:lstStyle/>
        <a:p>
          <a:endParaRPr lang="en-US"/>
        </a:p>
      </dgm:t>
    </dgm:pt>
    <dgm:pt modelId="{DE872210-9C64-491B-8FBD-FDB4BEB7DDEE}">
      <dgm:prSet phldrT="[Text]" phldr="0"/>
      <dgm:spPr/>
      <dgm:t>
        <a:bodyPr/>
        <a:lstStyle/>
        <a:p>
          <a:pPr>
            <a:lnSpc>
              <a:spcPct val="100000"/>
            </a:lnSpc>
          </a:pPr>
          <a:r>
            <a:rPr lang="en-US" b="1">
              <a:latin typeface="Consolas"/>
            </a:rPr>
            <a:t>volume</a:t>
          </a:r>
          <a:r>
            <a:rPr lang="en-US" b="1"/>
            <a:t>:</a:t>
          </a:r>
          <a:r>
            <a:rPr lang="en-US"/>
            <a:t> The total quantity of shares traded, measuring market liquidity and momentum.</a:t>
          </a:r>
        </a:p>
      </dgm:t>
    </dgm:pt>
    <dgm:pt modelId="{3DDE8C3F-122E-419E-9D70-6785CC619FDA}" type="parTrans" cxnId="{8E4A28D2-2C1F-4855-B3ED-225DA0EC726C}">
      <dgm:prSet/>
      <dgm:spPr/>
      <dgm:t>
        <a:bodyPr/>
        <a:lstStyle/>
        <a:p>
          <a:endParaRPr lang="en-US"/>
        </a:p>
      </dgm:t>
    </dgm:pt>
    <dgm:pt modelId="{8BBE327C-ED0E-4FA8-8635-316BE6846AA9}" type="sibTrans" cxnId="{8E4A28D2-2C1F-4855-B3ED-225DA0EC726C}">
      <dgm:prSet/>
      <dgm:spPr/>
      <dgm:t>
        <a:bodyPr/>
        <a:lstStyle/>
        <a:p>
          <a:endParaRPr lang="en-US"/>
        </a:p>
      </dgm:t>
    </dgm:pt>
    <dgm:pt modelId="{92EA3C24-E4E8-493F-9B53-BB1B94995051}">
      <dgm:prSet phldrT="[Text]" phldr="0"/>
      <dgm:spPr/>
      <dgm:t>
        <a:bodyPr/>
        <a:lstStyle/>
        <a:p>
          <a:pPr>
            <a:lnSpc>
              <a:spcPct val="100000"/>
            </a:lnSpc>
          </a:pPr>
          <a:r>
            <a:rPr lang="en-US" b="1">
              <a:latin typeface="Consolas"/>
            </a:rPr>
            <a:t>Name</a:t>
          </a:r>
          <a:r>
            <a:rPr lang="en-US" b="1"/>
            <a:t>:</a:t>
          </a:r>
          <a:r>
            <a:rPr lang="en-US"/>
            <a:t> The company ticker symbol used to separate and classify data across hundreds of corporations.</a:t>
          </a:r>
          <a:endParaRPr lang="en-US">
            <a:latin typeface="Calibri Light" panose="020F0302020204030204"/>
          </a:endParaRPr>
        </a:p>
      </dgm:t>
    </dgm:pt>
    <dgm:pt modelId="{69C2D8FE-CFB1-436F-92B8-13B2C230CE43}" type="parTrans" cxnId="{CE8F148A-DEB0-4DCD-8CC4-A1EDBF8B433A}">
      <dgm:prSet/>
      <dgm:spPr/>
    </dgm:pt>
    <dgm:pt modelId="{045D2B03-D653-44FE-9621-FB87019CECCE}" type="sibTrans" cxnId="{CE8F148A-DEB0-4DCD-8CC4-A1EDBF8B433A}">
      <dgm:prSet/>
      <dgm:spPr/>
      <dgm:t>
        <a:bodyPr/>
        <a:lstStyle/>
        <a:p>
          <a:endParaRPr lang="en-US"/>
        </a:p>
      </dgm:t>
    </dgm:pt>
    <dgm:pt modelId="{20675852-19B0-4411-B163-5345EEC84FBE}" type="pres">
      <dgm:prSet presAssocID="{C5E835AC-F1BA-4A3B-BF8A-52E17945DB26}" presName="root" presStyleCnt="0">
        <dgm:presLayoutVars>
          <dgm:dir/>
          <dgm:resizeHandles val="exact"/>
        </dgm:presLayoutVars>
      </dgm:prSet>
      <dgm:spPr/>
    </dgm:pt>
    <dgm:pt modelId="{F990E006-01FA-432C-8A7A-42D7868C372B}" type="pres">
      <dgm:prSet presAssocID="{3870D4CB-DC7E-45D7-BB5D-2E16AB32D526}" presName="compNode" presStyleCnt="0"/>
      <dgm:spPr/>
    </dgm:pt>
    <dgm:pt modelId="{60411C0F-CD4A-4D02-8E32-4B0374C27613}" type="pres">
      <dgm:prSet presAssocID="{3870D4CB-DC7E-45D7-BB5D-2E16AB32D526}" presName="bgRect" presStyleLbl="bgShp" presStyleIdx="0" presStyleCnt="6"/>
      <dgm:spPr/>
    </dgm:pt>
    <dgm:pt modelId="{87C4BD6E-7185-4B89-AE82-7C45D64549C3}" type="pres">
      <dgm:prSet presAssocID="{3870D4CB-DC7E-45D7-BB5D-2E16AB32D526}"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Flip Calendar"/>
        </a:ext>
      </dgm:extLst>
    </dgm:pt>
    <dgm:pt modelId="{4711B76D-4860-4AC2-B617-4CA7515B4318}" type="pres">
      <dgm:prSet presAssocID="{3870D4CB-DC7E-45D7-BB5D-2E16AB32D526}" presName="spaceRect" presStyleCnt="0"/>
      <dgm:spPr/>
    </dgm:pt>
    <dgm:pt modelId="{0FD28C29-7BED-4444-9EE2-8E4A44B7C4A5}" type="pres">
      <dgm:prSet presAssocID="{3870D4CB-DC7E-45D7-BB5D-2E16AB32D526}" presName="parTx" presStyleLbl="revTx" presStyleIdx="0" presStyleCnt="6">
        <dgm:presLayoutVars>
          <dgm:chMax val="0"/>
          <dgm:chPref val="0"/>
        </dgm:presLayoutVars>
      </dgm:prSet>
      <dgm:spPr/>
    </dgm:pt>
    <dgm:pt modelId="{89FA4BCB-8536-4EC9-B400-4CC2CAAA84DA}" type="pres">
      <dgm:prSet presAssocID="{416A8762-F0A0-46E0-ADCA-36B2A85BE27E}" presName="sibTrans" presStyleCnt="0"/>
      <dgm:spPr/>
    </dgm:pt>
    <dgm:pt modelId="{0F945188-CF42-4540-AB3D-B05A2FE814D5}" type="pres">
      <dgm:prSet presAssocID="{B8892901-33E4-4768-B251-217259DB17F6}" presName="compNode" presStyleCnt="0"/>
      <dgm:spPr/>
    </dgm:pt>
    <dgm:pt modelId="{166651B1-FF1B-476F-9AA5-8FD2A157B12C}" type="pres">
      <dgm:prSet presAssocID="{B8892901-33E4-4768-B251-217259DB17F6}" presName="bgRect" presStyleLbl="bgShp" presStyleIdx="1" presStyleCnt="6"/>
      <dgm:spPr/>
    </dgm:pt>
    <dgm:pt modelId="{909CDE15-1177-47AF-9EAF-A4ADF4CB64E6}" type="pres">
      <dgm:prSet presAssocID="{B8892901-33E4-4768-B251-217259DB17F6}"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inger"/>
        </a:ext>
      </dgm:extLst>
    </dgm:pt>
    <dgm:pt modelId="{3E3F3B12-AADC-4C89-A57C-29C303650DA0}" type="pres">
      <dgm:prSet presAssocID="{B8892901-33E4-4768-B251-217259DB17F6}" presName="spaceRect" presStyleCnt="0"/>
      <dgm:spPr/>
    </dgm:pt>
    <dgm:pt modelId="{B8E3756B-2A44-4018-9F6F-BF196FCC8188}" type="pres">
      <dgm:prSet presAssocID="{B8892901-33E4-4768-B251-217259DB17F6}" presName="parTx" presStyleLbl="revTx" presStyleIdx="1" presStyleCnt="6">
        <dgm:presLayoutVars>
          <dgm:chMax val="0"/>
          <dgm:chPref val="0"/>
        </dgm:presLayoutVars>
      </dgm:prSet>
      <dgm:spPr/>
    </dgm:pt>
    <dgm:pt modelId="{B63EFD6D-F9DF-4763-B6AE-E622FF968654}" type="pres">
      <dgm:prSet presAssocID="{02B31F01-9CD9-4C74-9640-BBADAE7ED5F8}" presName="sibTrans" presStyleCnt="0"/>
      <dgm:spPr/>
    </dgm:pt>
    <dgm:pt modelId="{855712DF-53EC-4963-BAE1-7CA9E1D2A409}" type="pres">
      <dgm:prSet presAssocID="{54C17F6C-519E-497F-8EE2-0DED36706C7A}" presName="compNode" presStyleCnt="0"/>
      <dgm:spPr/>
    </dgm:pt>
    <dgm:pt modelId="{2E91982F-C956-4E62-A5F8-9B80F6558801}" type="pres">
      <dgm:prSet presAssocID="{54C17F6C-519E-497F-8EE2-0DED36706C7A}" presName="bgRect" presStyleLbl="bgShp" presStyleIdx="2" presStyleCnt="6"/>
      <dgm:spPr/>
    </dgm:pt>
    <dgm:pt modelId="{A3E6040B-31C3-48B8-BC82-B69C69D50392}" type="pres">
      <dgm:prSet presAssocID="{54C17F6C-519E-497F-8EE2-0DED36706C7A}"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Bar Graph with Upward Trend"/>
        </a:ext>
      </dgm:extLst>
    </dgm:pt>
    <dgm:pt modelId="{D7817456-8B2D-4BE5-AAA9-3CFFDD4DFB71}" type="pres">
      <dgm:prSet presAssocID="{54C17F6C-519E-497F-8EE2-0DED36706C7A}" presName="spaceRect" presStyleCnt="0"/>
      <dgm:spPr/>
    </dgm:pt>
    <dgm:pt modelId="{AB743476-A980-415C-A869-DA157365F2C0}" type="pres">
      <dgm:prSet presAssocID="{54C17F6C-519E-497F-8EE2-0DED36706C7A}" presName="parTx" presStyleLbl="revTx" presStyleIdx="2" presStyleCnt="6">
        <dgm:presLayoutVars>
          <dgm:chMax val="0"/>
          <dgm:chPref val="0"/>
        </dgm:presLayoutVars>
      </dgm:prSet>
      <dgm:spPr/>
    </dgm:pt>
    <dgm:pt modelId="{45CCEACD-EABD-438F-8B71-96A6A2D23945}" type="pres">
      <dgm:prSet presAssocID="{048D0DB0-7358-415E-8BFB-2C34F6D7C8C2}" presName="sibTrans" presStyleCnt="0"/>
      <dgm:spPr/>
    </dgm:pt>
    <dgm:pt modelId="{28306F00-AD20-4FAA-924C-EEDD7A352D17}" type="pres">
      <dgm:prSet presAssocID="{210B5B05-8FC6-4727-B589-6B2F67AA6C43}" presName="compNode" presStyleCnt="0"/>
      <dgm:spPr/>
    </dgm:pt>
    <dgm:pt modelId="{C98E6790-616F-497F-9828-B981C2041DAA}" type="pres">
      <dgm:prSet presAssocID="{210B5B05-8FC6-4727-B589-6B2F67AA6C43}" presName="bgRect" presStyleLbl="bgShp" presStyleIdx="3" presStyleCnt="6"/>
      <dgm:spPr/>
    </dgm:pt>
    <dgm:pt modelId="{A18948E0-3552-4CE7-88A9-7EFE2E01C906}" type="pres">
      <dgm:prSet presAssocID="{210B5B05-8FC6-4727-B589-6B2F67AA6C43}"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Yuan"/>
        </a:ext>
      </dgm:extLst>
    </dgm:pt>
    <dgm:pt modelId="{B8E57E50-2730-49CF-88E1-D939D4F6159C}" type="pres">
      <dgm:prSet presAssocID="{210B5B05-8FC6-4727-B589-6B2F67AA6C43}" presName="spaceRect" presStyleCnt="0"/>
      <dgm:spPr/>
    </dgm:pt>
    <dgm:pt modelId="{31281B72-3186-426D-BB3E-B71AF1AA6DED}" type="pres">
      <dgm:prSet presAssocID="{210B5B05-8FC6-4727-B589-6B2F67AA6C43}" presName="parTx" presStyleLbl="revTx" presStyleIdx="3" presStyleCnt="6">
        <dgm:presLayoutVars>
          <dgm:chMax val="0"/>
          <dgm:chPref val="0"/>
        </dgm:presLayoutVars>
      </dgm:prSet>
      <dgm:spPr/>
    </dgm:pt>
    <dgm:pt modelId="{774E975B-36BA-4462-BD2B-845EBA924E67}" type="pres">
      <dgm:prSet presAssocID="{53B5510D-6B24-47FA-BFBE-1297431CF25F}" presName="sibTrans" presStyleCnt="0"/>
      <dgm:spPr/>
    </dgm:pt>
    <dgm:pt modelId="{4E726D8A-1B0F-4C4E-8B86-5231A1934CAA}" type="pres">
      <dgm:prSet presAssocID="{DE872210-9C64-491B-8FBD-FDB4BEB7DDEE}" presName="compNode" presStyleCnt="0"/>
      <dgm:spPr/>
    </dgm:pt>
    <dgm:pt modelId="{BB418B5B-403B-457A-B04D-8E81A0EF9E39}" type="pres">
      <dgm:prSet presAssocID="{DE872210-9C64-491B-8FBD-FDB4BEB7DDEE}" presName="bgRect" presStyleLbl="bgShp" presStyleIdx="4" presStyleCnt="6"/>
      <dgm:spPr/>
    </dgm:pt>
    <dgm:pt modelId="{FFD8D920-2B66-4170-AF13-D1244C5A9CF5}" type="pres">
      <dgm:prSet presAssocID="{DE872210-9C64-491B-8FBD-FDB4BEB7DDEE}"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Upward trend"/>
        </a:ext>
      </dgm:extLst>
    </dgm:pt>
    <dgm:pt modelId="{3F4DC3BA-AD80-443B-8298-C301BA03E552}" type="pres">
      <dgm:prSet presAssocID="{DE872210-9C64-491B-8FBD-FDB4BEB7DDEE}" presName="spaceRect" presStyleCnt="0"/>
      <dgm:spPr/>
    </dgm:pt>
    <dgm:pt modelId="{18B15AB8-BDA4-48B9-8143-13F9C4004147}" type="pres">
      <dgm:prSet presAssocID="{DE872210-9C64-491B-8FBD-FDB4BEB7DDEE}" presName="parTx" presStyleLbl="revTx" presStyleIdx="4" presStyleCnt="6">
        <dgm:presLayoutVars>
          <dgm:chMax val="0"/>
          <dgm:chPref val="0"/>
        </dgm:presLayoutVars>
      </dgm:prSet>
      <dgm:spPr/>
    </dgm:pt>
    <dgm:pt modelId="{0677BDAE-17CA-4144-B681-F15840D6515E}" type="pres">
      <dgm:prSet presAssocID="{8BBE327C-ED0E-4FA8-8635-316BE6846AA9}" presName="sibTrans" presStyleCnt="0"/>
      <dgm:spPr/>
    </dgm:pt>
    <dgm:pt modelId="{170527D9-CBD0-4FF4-9AFE-DC3227A6B04C}" type="pres">
      <dgm:prSet presAssocID="{92EA3C24-E4E8-493F-9B53-BB1B94995051}" presName="compNode" presStyleCnt="0"/>
      <dgm:spPr/>
    </dgm:pt>
    <dgm:pt modelId="{1E086F37-93B1-4D07-B2A1-97A3106F9BE2}" type="pres">
      <dgm:prSet presAssocID="{92EA3C24-E4E8-493F-9B53-BB1B94995051}" presName="bgRect" presStyleLbl="bgShp" presStyleIdx="5" presStyleCnt="6"/>
      <dgm:spPr/>
    </dgm:pt>
    <dgm:pt modelId="{424DDBC0-B05B-4A68-B062-D3F40D3DF9AC}" type="pres">
      <dgm:prSet presAssocID="{92EA3C24-E4E8-493F-9B53-BB1B94995051}"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lowchart"/>
        </a:ext>
      </dgm:extLst>
    </dgm:pt>
    <dgm:pt modelId="{798332F2-9EFA-4DEF-B176-E9987BD68F41}" type="pres">
      <dgm:prSet presAssocID="{92EA3C24-E4E8-493F-9B53-BB1B94995051}" presName="spaceRect" presStyleCnt="0"/>
      <dgm:spPr/>
    </dgm:pt>
    <dgm:pt modelId="{E1108A5A-C49F-482A-A0D9-DB3A5AF243C6}" type="pres">
      <dgm:prSet presAssocID="{92EA3C24-E4E8-493F-9B53-BB1B94995051}" presName="parTx" presStyleLbl="revTx" presStyleIdx="5" presStyleCnt="6">
        <dgm:presLayoutVars>
          <dgm:chMax val="0"/>
          <dgm:chPref val="0"/>
        </dgm:presLayoutVars>
      </dgm:prSet>
      <dgm:spPr/>
    </dgm:pt>
  </dgm:ptLst>
  <dgm:cxnLst>
    <dgm:cxn modelId="{FA69AF0C-39EA-4A10-8981-4B51464F14B5}" srcId="{C5E835AC-F1BA-4A3B-BF8A-52E17945DB26}" destId="{54C17F6C-519E-497F-8EE2-0DED36706C7A}" srcOrd="2" destOrd="0" parTransId="{BAE6BDC5-736E-43E5-A8CB-7374759FB6E4}" sibTransId="{048D0DB0-7358-415E-8BFB-2C34F6D7C8C2}"/>
    <dgm:cxn modelId="{D9F1971F-7CAC-4281-89CC-68FD8EB52AEE}" srcId="{C5E835AC-F1BA-4A3B-BF8A-52E17945DB26}" destId="{B8892901-33E4-4768-B251-217259DB17F6}" srcOrd="1" destOrd="0" parTransId="{F7640B19-38D4-4B01-BC36-5D053B9FE61F}" sibTransId="{02B31F01-9CD9-4C74-9640-BBADAE7ED5F8}"/>
    <dgm:cxn modelId="{23DBD05D-4374-44D9-BDFC-C0C65DC40DDC}" srcId="{C5E835AC-F1BA-4A3B-BF8A-52E17945DB26}" destId="{3870D4CB-DC7E-45D7-BB5D-2E16AB32D526}" srcOrd="0" destOrd="0" parTransId="{9EAB5ED8-D992-4A7D-B3ED-545BB72FDF85}" sibTransId="{416A8762-F0A0-46E0-ADCA-36B2A85BE27E}"/>
    <dgm:cxn modelId="{4706435F-AF75-4FC6-9118-9716EF9F3056}" type="presOf" srcId="{DE872210-9C64-491B-8FBD-FDB4BEB7DDEE}" destId="{18B15AB8-BDA4-48B9-8143-13F9C4004147}" srcOrd="0" destOrd="0" presId="urn:microsoft.com/office/officeart/2018/2/layout/IconVerticalSolidList"/>
    <dgm:cxn modelId="{444D127D-2A41-4880-802B-2DAADBE75EE8}" type="presOf" srcId="{C5E835AC-F1BA-4A3B-BF8A-52E17945DB26}" destId="{20675852-19B0-4411-B163-5345EEC84FBE}" srcOrd="0" destOrd="0" presId="urn:microsoft.com/office/officeart/2018/2/layout/IconVerticalSolidList"/>
    <dgm:cxn modelId="{CE8F148A-DEB0-4DCD-8CC4-A1EDBF8B433A}" srcId="{C5E835AC-F1BA-4A3B-BF8A-52E17945DB26}" destId="{92EA3C24-E4E8-493F-9B53-BB1B94995051}" srcOrd="5" destOrd="0" parTransId="{69C2D8FE-CFB1-436F-92B8-13B2C230CE43}" sibTransId="{045D2B03-D653-44FE-9621-FB87019CECCE}"/>
    <dgm:cxn modelId="{BDBB518B-E55C-41CA-B58C-3FC6FA73C848}" srcId="{C5E835AC-F1BA-4A3B-BF8A-52E17945DB26}" destId="{210B5B05-8FC6-4727-B589-6B2F67AA6C43}" srcOrd="3" destOrd="0" parTransId="{9E59FF41-547F-4FD8-84A9-9E84BAE6C506}" sibTransId="{53B5510D-6B24-47FA-BFBE-1297431CF25F}"/>
    <dgm:cxn modelId="{7FBE29AF-753F-46BC-946D-1763615D2EC5}" type="presOf" srcId="{210B5B05-8FC6-4727-B589-6B2F67AA6C43}" destId="{31281B72-3186-426D-BB3E-B71AF1AA6DED}" srcOrd="0" destOrd="0" presId="urn:microsoft.com/office/officeart/2018/2/layout/IconVerticalSolidList"/>
    <dgm:cxn modelId="{6D5E32AF-4B79-4624-82E6-41FF02A1C28D}" type="presOf" srcId="{B8892901-33E4-4768-B251-217259DB17F6}" destId="{B8E3756B-2A44-4018-9F6F-BF196FCC8188}" srcOrd="0" destOrd="0" presId="urn:microsoft.com/office/officeart/2018/2/layout/IconVerticalSolidList"/>
    <dgm:cxn modelId="{E7C2C9B6-2049-47DA-9875-3E36CACF9718}" type="presOf" srcId="{3870D4CB-DC7E-45D7-BB5D-2E16AB32D526}" destId="{0FD28C29-7BED-4444-9EE2-8E4A44B7C4A5}" srcOrd="0" destOrd="0" presId="urn:microsoft.com/office/officeart/2018/2/layout/IconVerticalSolidList"/>
    <dgm:cxn modelId="{8E4A28D2-2C1F-4855-B3ED-225DA0EC726C}" srcId="{C5E835AC-F1BA-4A3B-BF8A-52E17945DB26}" destId="{DE872210-9C64-491B-8FBD-FDB4BEB7DDEE}" srcOrd="4" destOrd="0" parTransId="{3DDE8C3F-122E-419E-9D70-6785CC619FDA}" sibTransId="{8BBE327C-ED0E-4FA8-8635-316BE6846AA9}"/>
    <dgm:cxn modelId="{4C01B6DB-D78A-475B-B275-BF1C2C2F047C}" type="presOf" srcId="{92EA3C24-E4E8-493F-9B53-BB1B94995051}" destId="{E1108A5A-C49F-482A-A0D9-DB3A5AF243C6}" srcOrd="0" destOrd="0" presId="urn:microsoft.com/office/officeart/2018/2/layout/IconVerticalSolidList"/>
    <dgm:cxn modelId="{18ED09EA-F1A5-4AC3-9872-8DEE08B6B99C}" type="presOf" srcId="{54C17F6C-519E-497F-8EE2-0DED36706C7A}" destId="{AB743476-A980-415C-A869-DA157365F2C0}" srcOrd="0" destOrd="0" presId="urn:microsoft.com/office/officeart/2018/2/layout/IconVerticalSolidList"/>
    <dgm:cxn modelId="{16201593-0485-4638-93A6-A486181BEFE1}" type="presParOf" srcId="{20675852-19B0-4411-B163-5345EEC84FBE}" destId="{F990E006-01FA-432C-8A7A-42D7868C372B}" srcOrd="0" destOrd="0" presId="urn:microsoft.com/office/officeart/2018/2/layout/IconVerticalSolidList"/>
    <dgm:cxn modelId="{E0CAE659-6C8B-4FF1-A982-90216A2F4D5C}" type="presParOf" srcId="{F990E006-01FA-432C-8A7A-42D7868C372B}" destId="{60411C0F-CD4A-4D02-8E32-4B0374C27613}" srcOrd="0" destOrd="0" presId="urn:microsoft.com/office/officeart/2018/2/layout/IconVerticalSolidList"/>
    <dgm:cxn modelId="{EC4BD490-793B-4BC4-ABD3-022765A91D5C}" type="presParOf" srcId="{F990E006-01FA-432C-8A7A-42D7868C372B}" destId="{87C4BD6E-7185-4B89-AE82-7C45D64549C3}" srcOrd="1" destOrd="0" presId="urn:microsoft.com/office/officeart/2018/2/layout/IconVerticalSolidList"/>
    <dgm:cxn modelId="{852D951E-B2CE-4D95-9537-77C855DCA2DD}" type="presParOf" srcId="{F990E006-01FA-432C-8A7A-42D7868C372B}" destId="{4711B76D-4860-4AC2-B617-4CA7515B4318}" srcOrd="2" destOrd="0" presId="urn:microsoft.com/office/officeart/2018/2/layout/IconVerticalSolidList"/>
    <dgm:cxn modelId="{9CD6CDF5-F2F0-4DEF-A5C6-DA1404986B7A}" type="presParOf" srcId="{F990E006-01FA-432C-8A7A-42D7868C372B}" destId="{0FD28C29-7BED-4444-9EE2-8E4A44B7C4A5}" srcOrd="3" destOrd="0" presId="urn:microsoft.com/office/officeart/2018/2/layout/IconVerticalSolidList"/>
    <dgm:cxn modelId="{119C9246-0839-476B-B49C-D553D06859CC}" type="presParOf" srcId="{20675852-19B0-4411-B163-5345EEC84FBE}" destId="{89FA4BCB-8536-4EC9-B400-4CC2CAAA84DA}" srcOrd="1" destOrd="0" presId="urn:microsoft.com/office/officeart/2018/2/layout/IconVerticalSolidList"/>
    <dgm:cxn modelId="{8E3A5E8D-2C57-43C2-A518-04108A47302B}" type="presParOf" srcId="{20675852-19B0-4411-B163-5345EEC84FBE}" destId="{0F945188-CF42-4540-AB3D-B05A2FE814D5}" srcOrd="2" destOrd="0" presId="urn:microsoft.com/office/officeart/2018/2/layout/IconVerticalSolidList"/>
    <dgm:cxn modelId="{789E79E2-6C0F-4538-A153-9BBA04056291}" type="presParOf" srcId="{0F945188-CF42-4540-AB3D-B05A2FE814D5}" destId="{166651B1-FF1B-476F-9AA5-8FD2A157B12C}" srcOrd="0" destOrd="0" presId="urn:microsoft.com/office/officeart/2018/2/layout/IconVerticalSolidList"/>
    <dgm:cxn modelId="{681E9635-0A1B-4F8E-BD2B-D42DCDC6E109}" type="presParOf" srcId="{0F945188-CF42-4540-AB3D-B05A2FE814D5}" destId="{909CDE15-1177-47AF-9EAF-A4ADF4CB64E6}" srcOrd="1" destOrd="0" presId="urn:microsoft.com/office/officeart/2018/2/layout/IconVerticalSolidList"/>
    <dgm:cxn modelId="{CAE9915A-6DB6-4FFD-ADA7-25F0B96D799A}" type="presParOf" srcId="{0F945188-CF42-4540-AB3D-B05A2FE814D5}" destId="{3E3F3B12-AADC-4C89-A57C-29C303650DA0}" srcOrd="2" destOrd="0" presId="urn:microsoft.com/office/officeart/2018/2/layout/IconVerticalSolidList"/>
    <dgm:cxn modelId="{BE0E5330-7ED3-4F91-8B20-B0FE7713D8E1}" type="presParOf" srcId="{0F945188-CF42-4540-AB3D-B05A2FE814D5}" destId="{B8E3756B-2A44-4018-9F6F-BF196FCC8188}" srcOrd="3" destOrd="0" presId="urn:microsoft.com/office/officeart/2018/2/layout/IconVerticalSolidList"/>
    <dgm:cxn modelId="{240497D6-522F-4D38-9824-B20374875286}" type="presParOf" srcId="{20675852-19B0-4411-B163-5345EEC84FBE}" destId="{B63EFD6D-F9DF-4763-B6AE-E622FF968654}" srcOrd="3" destOrd="0" presId="urn:microsoft.com/office/officeart/2018/2/layout/IconVerticalSolidList"/>
    <dgm:cxn modelId="{95116318-4250-4A81-AADA-C717ED440394}" type="presParOf" srcId="{20675852-19B0-4411-B163-5345EEC84FBE}" destId="{855712DF-53EC-4963-BAE1-7CA9E1D2A409}" srcOrd="4" destOrd="0" presId="urn:microsoft.com/office/officeart/2018/2/layout/IconVerticalSolidList"/>
    <dgm:cxn modelId="{1B17257F-7FC3-4463-A142-ABA1A68BD68C}" type="presParOf" srcId="{855712DF-53EC-4963-BAE1-7CA9E1D2A409}" destId="{2E91982F-C956-4E62-A5F8-9B80F6558801}" srcOrd="0" destOrd="0" presId="urn:microsoft.com/office/officeart/2018/2/layout/IconVerticalSolidList"/>
    <dgm:cxn modelId="{5BEA07AA-E0FA-4FD2-947E-2E910838078B}" type="presParOf" srcId="{855712DF-53EC-4963-BAE1-7CA9E1D2A409}" destId="{A3E6040B-31C3-48B8-BC82-B69C69D50392}" srcOrd="1" destOrd="0" presId="urn:microsoft.com/office/officeart/2018/2/layout/IconVerticalSolidList"/>
    <dgm:cxn modelId="{5C98BDBD-0319-4C24-85D9-493C9A960A5A}" type="presParOf" srcId="{855712DF-53EC-4963-BAE1-7CA9E1D2A409}" destId="{D7817456-8B2D-4BE5-AAA9-3CFFDD4DFB71}" srcOrd="2" destOrd="0" presId="urn:microsoft.com/office/officeart/2018/2/layout/IconVerticalSolidList"/>
    <dgm:cxn modelId="{AAFAF1B5-7779-4926-BAA1-75E0A308DBBD}" type="presParOf" srcId="{855712DF-53EC-4963-BAE1-7CA9E1D2A409}" destId="{AB743476-A980-415C-A869-DA157365F2C0}" srcOrd="3" destOrd="0" presId="urn:microsoft.com/office/officeart/2018/2/layout/IconVerticalSolidList"/>
    <dgm:cxn modelId="{F1ED6B2B-4EF2-4DDD-8D65-25C31408DBA2}" type="presParOf" srcId="{20675852-19B0-4411-B163-5345EEC84FBE}" destId="{45CCEACD-EABD-438F-8B71-96A6A2D23945}" srcOrd="5" destOrd="0" presId="urn:microsoft.com/office/officeart/2018/2/layout/IconVerticalSolidList"/>
    <dgm:cxn modelId="{FA950C83-F29B-4F6B-A545-2DC749F1F068}" type="presParOf" srcId="{20675852-19B0-4411-B163-5345EEC84FBE}" destId="{28306F00-AD20-4FAA-924C-EEDD7A352D17}" srcOrd="6" destOrd="0" presId="urn:microsoft.com/office/officeart/2018/2/layout/IconVerticalSolidList"/>
    <dgm:cxn modelId="{324335C6-7E44-4D9C-B613-6C47AE39AF67}" type="presParOf" srcId="{28306F00-AD20-4FAA-924C-EEDD7A352D17}" destId="{C98E6790-616F-497F-9828-B981C2041DAA}" srcOrd="0" destOrd="0" presId="urn:microsoft.com/office/officeart/2018/2/layout/IconVerticalSolidList"/>
    <dgm:cxn modelId="{4E0184E8-D76B-44C5-A07E-DF27144DA872}" type="presParOf" srcId="{28306F00-AD20-4FAA-924C-EEDD7A352D17}" destId="{A18948E0-3552-4CE7-88A9-7EFE2E01C906}" srcOrd="1" destOrd="0" presId="urn:microsoft.com/office/officeart/2018/2/layout/IconVerticalSolidList"/>
    <dgm:cxn modelId="{20385756-7532-4DD0-97A2-41E4F66154D2}" type="presParOf" srcId="{28306F00-AD20-4FAA-924C-EEDD7A352D17}" destId="{B8E57E50-2730-49CF-88E1-D939D4F6159C}" srcOrd="2" destOrd="0" presId="urn:microsoft.com/office/officeart/2018/2/layout/IconVerticalSolidList"/>
    <dgm:cxn modelId="{C136B605-A118-4143-BAC9-4ECE00E785DB}" type="presParOf" srcId="{28306F00-AD20-4FAA-924C-EEDD7A352D17}" destId="{31281B72-3186-426D-BB3E-B71AF1AA6DED}" srcOrd="3" destOrd="0" presId="urn:microsoft.com/office/officeart/2018/2/layout/IconVerticalSolidList"/>
    <dgm:cxn modelId="{25D2877D-2709-44C9-B8B0-33F0E01F9844}" type="presParOf" srcId="{20675852-19B0-4411-B163-5345EEC84FBE}" destId="{774E975B-36BA-4462-BD2B-845EBA924E67}" srcOrd="7" destOrd="0" presId="urn:microsoft.com/office/officeart/2018/2/layout/IconVerticalSolidList"/>
    <dgm:cxn modelId="{51A33B72-815F-4E97-B55E-8D131FD72C32}" type="presParOf" srcId="{20675852-19B0-4411-B163-5345EEC84FBE}" destId="{4E726D8A-1B0F-4C4E-8B86-5231A1934CAA}" srcOrd="8" destOrd="0" presId="urn:microsoft.com/office/officeart/2018/2/layout/IconVerticalSolidList"/>
    <dgm:cxn modelId="{7DAB1A0E-DFE3-46D3-983C-27FA1A3FA99F}" type="presParOf" srcId="{4E726D8A-1B0F-4C4E-8B86-5231A1934CAA}" destId="{BB418B5B-403B-457A-B04D-8E81A0EF9E39}" srcOrd="0" destOrd="0" presId="urn:microsoft.com/office/officeart/2018/2/layout/IconVerticalSolidList"/>
    <dgm:cxn modelId="{47497A11-7BBC-40EC-8FEF-DBDBBB167C28}" type="presParOf" srcId="{4E726D8A-1B0F-4C4E-8B86-5231A1934CAA}" destId="{FFD8D920-2B66-4170-AF13-D1244C5A9CF5}" srcOrd="1" destOrd="0" presId="urn:microsoft.com/office/officeart/2018/2/layout/IconVerticalSolidList"/>
    <dgm:cxn modelId="{EC5E3CD5-CAE5-4454-A07B-C11D3BC67A71}" type="presParOf" srcId="{4E726D8A-1B0F-4C4E-8B86-5231A1934CAA}" destId="{3F4DC3BA-AD80-443B-8298-C301BA03E552}" srcOrd="2" destOrd="0" presId="urn:microsoft.com/office/officeart/2018/2/layout/IconVerticalSolidList"/>
    <dgm:cxn modelId="{FC0CAEEB-64A7-48A1-B938-38EA267AB982}" type="presParOf" srcId="{4E726D8A-1B0F-4C4E-8B86-5231A1934CAA}" destId="{18B15AB8-BDA4-48B9-8143-13F9C4004147}" srcOrd="3" destOrd="0" presId="urn:microsoft.com/office/officeart/2018/2/layout/IconVerticalSolidList"/>
    <dgm:cxn modelId="{B606ABE7-6A95-490F-95F1-874F87151185}" type="presParOf" srcId="{20675852-19B0-4411-B163-5345EEC84FBE}" destId="{0677BDAE-17CA-4144-B681-F15840D6515E}" srcOrd="9" destOrd="0" presId="urn:microsoft.com/office/officeart/2018/2/layout/IconVerticalSolidList"/>
    <dgm:cxn modelId="{47ADF70D-BEFE-434F-9CFC-C85D1658664E}" type="presParOf" srcId="{20675852-19B0-4411-B163-5345EEC84FBE}" destId="{170527D9-CBD0-4FF4-9AFE-DC3227A6B04C}" srcOrd="10" destOrd="0" presId="urn:microsoft.com/office/officeart/2018/2/layout/IconVerticalSolidList"/>
    <dgm:cxn modelId="{D0076CC6-51E3-4E9A-ABD6-41EB876E2DEC}" type="presParOf" srcId="{170527D9-CBD0-4FF4-9AFE-DC3227A6B04C}" destId="{1E086F37-93B1-4D07-B2A1-97A3106F9BE2}" srcOrd="0" destOrd="0" presId="urn:microsoft.com/office/officeart/2018/2/layout/IconVerticalSolidList"/>
    <dgm:cxn modelId="{9DE96494-3190-4ECA-A5C6-8060D15EB63A}" type="presParOf" srcId="{170527D9-CBD0-4FF4-9AFE-DC3227A6B04C}" destId="{424DDBC0-B05B-4A68-B062-D3F40D3DF9AC}" srcOrd="1" destOrd="0" presId="urn:microsoft.com/office/officeart/2018/2/layout/IconVerticalSolidList"/>
    <dgm:cxn modelId="{F422A2B5-713C-4CAA-B809-EBA6F5C43831}" type="presParOf" srcId="{170527D9-CBD0-4FF4-9AFE-DC3227A6B04C}" destId="{798332F2-9EFA-4DEF-B176-E9987BD68F41}" srcOrd="2" destOrd="0" presId="urn:microsoft.com/office/officeart/2018/2/layout/IconVerticalSolidList"/>
    <dgm:cxn modelId="{AA3A3EA0-39FC-406B-9F08-4DE7A8CF1C8D}" type="presParOf" srcId="{170527D9-CBD0-4FF4-9AFE-DC3227A6B04C}" destId="{E1108A5A-C49F-482A-A0D9-DB3A5AF243C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411C0F-CD4A-4D02-8E32-4B0374C27613}">
      <dsp:nvSpPr>
        <dsp:cNvPr id="0" name=""/>
        <dsp:cNvSpPr/>
      </dsp:nvSpPr>
      <dsp:spPr>
        <a:xfrm>
          <a:off x="0" y="1301"/>
          <a:ext cx="10058399" cy="554499"/>
        </a:xfrm>
        <a:prstGeom prst="roundRect">
          <a:avLst>
            <a:gd name="adj" fmla="val 10000"/>
          </a:avLst>
        </a:prstGeom>
        <a:solidFill>
          <a:schemeClr val="accent1">
            <a:tint val="40000"/>
            <a:hueOff val="0"/>
            <a:satOff val="0"/>
            <a:lumOff val="0"/>
            <a:alphaOff val="0"/>
          </a:schemeClr>
        </a:solidFill>
        <a:ln w="127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87C4BD6E-7185-4B89-AE82-7C45D64549C3}">
      <dsp:nvSpPr>
        <dsp:cNvPr id="0" name=""/>
        <dsp:cNvSpPr/>
      </dsp:nvSpPr>
      <dsp:spPr>
        <a:xfrm>
          <a:off x="167736" y="126063"/>
          <a:ext cx="304974" cy="3049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0FD28C29-7BED-4444-9EE2-8E4A44B7C4A5}">
      <dsp:nvSpPr>
        <dsp:cNvPr id="0" name=""/>
        <dsp:cNvSpPr/>
      </dsp:nvSpPr>
      <dsp:spPr>
        <a:xfrm>
          <a:off x="640447" y="1301"/>
          <a:ext cx="9417952" cy="554499"/>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58685" tIns="58685" rIns="58685" bIns="58685" numCol="1" spcCol="1270" anchor="ctr" anchorCtr="0">
          <a:noAutofit/>
        </a:bodyPr>
        <a:lstStyle/>
        <a:p>
          <a:pPr marL="0" lvl="0" indent="0" algn="l" defTabSz="622300">
            <a:lnSpc>
              <a:spcPct val="100000"/>
            </a:lnSpc>
            <a:spcBef>
              <a:spcPct val="0"/>
            </a:spcBef>
            <a:spcAft>
              <a:spcPct val="35000"/>
            </a:spcAft>
            <a:buNone/>
          </a:pPr>
          <a:r>
            <a:rPr lang="en-US" sz="1400" b="1" kern="1200">
              <a:latin typeface="Consolas"/>
            </a:rPr>
            <a:t>date</a:t>
          </a:r>
          <a:r>
            <a:rPr lang="en-US" sz="1400" b="1" kern="1200"/>
            <a:t>:</a:t>
          </a:r>
          <a:r>
            <a:rPr lang="en-US" sz="1400" kern="1200"/>
            <a:t> Represents the trading session day; used for time-series ordering, tracking gaps, and handling holidays.</a:t>
          </a:r>
        </a:p>
      </dsp:txBody>
      <dsp:txXfrm>
        <a:off x="640447" y="1301"/>
        <a:ext cx="9417952" cy="554499"/>
      </dsp:txXfrm>
    </dsp:sp>
    <dsp:sp modelId="{166651B1-FF1B-476F-9AA5-8FD2A157B12C}">
      <dsp:nvSpPr>
        <dsp:cNvPr id="0" name=""/>
        <dsp:cNvSpPr/>
      </dsp:nvSpPr>
      <dsp:spPr>
        <a:xfrm>
          <a:off x="0" y="694425"/>
          <a:ext cx="10058399" cy="554499"/>
        </a:xfrm>
        <a:prstGeom prst="roundRect">
          <a:avLst>
            <a:gd name="adj" fmla="val 10000"/>
          </a:avLst>
        </a:prstGeom>
        <a:solidFill>
          <a:schemeClr val="accent1">
            <a:tint val="40000"/>
            <a:hueOff val="0"/>
            <a:satOff val="0"/>
            <a:lumOff val="0"/>
            <a:alphaOff val="0"/>
          </a:schemeClr>
        </a:solidFill>
        <a:ln w="127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909CDE15-1177-47AF-9EAF-A4ADF4CB64E6}">
      <dsp:nvSpPr>
        <dsp:cNvPr id="0" name=""/>
        <dsp:cNvSpPr/>
      </dsp:nvSpPr>
      <dsp:spPr>
        <a:xfrm>
          <a:off x="167736" y="819188"/>
          <a:ext cx="304974" cy="3049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8E3756B-2A44-4018-9F6F-BF196FCC8188}">
      <dsp:nvSpPr>
        <dsp:cNvPr id="0" name=""/>
        <dsp:cNvSpPr/>
      </dsp:nvSpPr>
      <dsp:spPr>
        <a:xfrm>
          <a:off x="640447" y="694425"/>
          <a:ext cx="9417952" cy="554499"/>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58685" tIns="58685" rIns="58685" bIns="58685" numCol="1" spcCol="1270" anchor="ctr" anchorCtr="0">
          <a:noAutofit/>
        </a:bodyPr>
        <a:lstStyle/>
        <a:p>
          <a:pPr marL="0" lvl="0" indent="0" algn="l" defTabSz="622300">
            <a:lnSpc>
              <a:spcPct val="100000"/>
            </a:lnSpc>
            <a:spcBef>
              <a:spcPct val="0"/>
            </a:spcBef>
            <a:spcAft>
              <a:spcPct val="35000"/>
            </a:spcAft>
            <a:buNone/>
          </a:pPr>
          <a:r>
            <a:rPr lang="en-US" sz="1400" b="1" kern="1200">
              <a:latin typeface="Consolas"/>
            </a:rPr>
            <a:t>open</a:t>
          </a:r>
          <a:r>
            <a:rPr lang="en-US" sz="1400" b="1" kern="1200"/>
            <a:t>:</a:t>
          </a:r>
          <a:r>
            <a:rPr lang="en-US" sz="1400" kern="1200"/>
            <a:t> The opening price of the stock at the sound of the opening bell in the morning.</a:t>
          </a:r>
        </a:p>
      </dsp:txBody>
      <dsp:txXfrm>
        <a:off x="640447" y="694425"/>
        <a:ext cx="9417952" cy="554499"/>
      </dsp:txXfrm>
    </dsp:sp>
    <dsp:sp modelId="{2E91982F-C956-4E62-A5F8-9B80F6558801}">
      <dsp:nvSpPr>
        <dsp:cNvPr id="0" name=""/>
        <dsp:cNvSpPr/>
      </dsp:nvSpPr>
      <dsp:spPr>
        <a:xfrm>
          <a:off x="0" y="1387550"/>
          <a:ext cx="10058399" cy="554499"/>
        </a:xfrm>
        <a:prstGeom prst="roundRect">
          <a:avLst>
            <a:gd name="adj" fmla="val 10000"/>
          </a:avLst>
        </a:prstGeom>
        <a:solidFill>
          <a:schemeClr val="accent1">
            <a:tint val="40000"/>
            <a:hueOff val="0"/>
            <a:satOff val="0"/>
            <a:lumOff val="0"/>
            <a:alphaOff val="0"/>
          </a:schemeClr>
        </a:solidFill>
        <a:ln w="127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A3E6040B-31C3-48B8-BC82-B69C69D50392}">
      <dsp:nvSpPr>
        <dsp:cNvPr id="0" name=""/>
        <dsp:cNvSpPr/>
      </dsp:nvSpPr>
      <dsp:spPr>
        <a:xfrm>
          <a:off x="167736" y="1512312"/>
          <a:ext cx="304974" cy="3049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AB743476-A980-415C-A869-DA157365F2C0}">
      <dsp:nvSpPr>
        <dsp:cNvPr id="0" name=""/>
        <dsp:cNvSpPr/>
      </dsp:nvSpPr>
      <dsp:spPr>
        <a:xfrm>
          <a:off x="640447" y="1387550"/>
          <a:ext cx="9417952" cy="554499"/>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58685" tIns="58685" rIns="58685" bIns="58685" numCol="1" spcCol="1270" anchor="ctr" anchorCtr="0">
          <a:noAutofit/>
        </a:bodyPr>
        <a:lstStyle/>
        <a:p>
          <a:pPr marL="0" lvl="0" indent="0" algn="l" defTabSz="622300">
            <a:lnSpc>
              <a:spcPct val="100000"/>
            </a:lnSpc>
            <a:spcBef>
              <a:spcPct val="0"/>
            </a:spcBef>
            <a:spcAft>
              <a:spcPct val="35000"/>
            </a:spcAft>
            <a:buNone/>
          </a:pPr>
          <a:r>
            <a:rPr lang="en-US" sz="1400" b="1" kern="1200">
              <a:latin typeface="Consolas"/>
            </a:rPr>
            <a:t>high / low</a:t>
          </a:r>
          <a:r>
            <a:rPr lang="en-US" sz="1400" b="1" kern="1200"/>
            <a:t>:</a:t>
          </a:r>
          <a:r>
            <a:rPr lang="en-US" sz="1400" kern="1200"/>
            <a:t> The maximum and minimum prices reached by the stock during the session, reflecting buying and selling pressure.</a:t>
          </a:r>
        </a:p>
      </dsp:txBody>
      <dsp:txXfrm>
        <a:off x="640447" y="1387550"/>
        <a:ext cx="9417952" cy="554499"/>
      </dsp:txXfrm>
    </dsp:sp>
    <dsp:sp modelId="{C98E6790-616F-497F-9828-B981C2041DAA}">
      <dsp:nvSpPr>
        <dsp:cNvPr id="0" name=""/>
        <dsp:cNvSpPr/>
      </dsp:nvSpPr>
      <dsp:spPr>
        <a:xfrm>
          <a:off x="0" y="2080674"/>
          <a:ext cx="10058399" cy="554499"/>
        </a:xfrm>
        <a:prstGeom prst="roundRect">
          <a:avLst>
            <a:gd name="adj" fmla="val 10000"/>
          </a:avLst>
        </a:prstGeom>
        <a:solidFill>
          <a:schemeClr val="accent1">
            <a:tint val="40000"/>
            <a:hueOff val="0"/>
            <a:satOff val="0"/>
            <a:lumOff val="0"/>
            <a:alphaOff val="0"/>
          </a:schemeClr>
        </a:solidFill>
        <a:ln w="127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A18948E0-3552-4CE7-88A9-7EFE2E01C906}">
      <dsp:nvSpPr>
        <dsp:cNvPr id="0" name=""/>
        <dsp:cNvSpPr/>
      </dsp:nvSpPr>
      <dsp:spPr>
        <a:xfrm>
          <a:off x="167736" y="2205437"/>
          <a:ext cx="304974" cy="3049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31281B72-3186-426D-BB3E-B71AF1AA6DED}">
      <dsp:nvSpPr>
        <dsp:cNvPr id="0" name=""/>
        <dsp:cNvSpPr/>
      </dsp:nvSpPr>
      <dsp:spPr>
        <a:xfrm>
          <a:off x="640447" y="2080674"/>
          <a:ext cx="9417952" cy="554499"/>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58685" tIns="58685" rIns="58685" bIns="58685" numCol="1" spcCol="1270" anchor="ctr" anchorCtr="0">
          <a:noAutofit/>
        </a:bodyPr>
        <a:lstStyle/>
        <a:p>
          <a:pPr marL="0" lvl="0" indent="0" algn="l" defTabSz="622300">
            <a:lnSpc>
              <a:spcPct val="100000"/>
            </a:lnSpc>
            <a:spcBef>
              <a:spcPct val="0"/>
            </a:spcBef>
            <a:spcAft>
              <a:spcPct val="35000"/>
            </a:spcAft>
            <a:buNone/>
          </a:pPr>
          <a:r>
            <a:rPr lang="en-US" sz="1400" b="1" kern="1200">
              <a:latin typeface="Consolas"/>
            </a:rPr>
            <a:t>close</a:t>
          </a:r>
          <a:r>
            <a:rPr lang="en-US" sz="1400" b="1" kern="1200"/>
            <a:t>:</a:t>
          </a:r>
          <a:r>
            <a:rPr lang="en-US" sz="1400" kern="1200"/>
            <a:t> The final closing price, which is considered the most crucial and widely used column for mathematical and financial analysis.</a:t>
          </a:r>
        </a:p>
      </dsp:txBody>
      <dsp:txXfrm>
        <a:off x="640447" y="2080674"/>
        <a:ext cx="9417952" cy="554499"/>
      </dsp:txXfrm>
    </dsp:sp>
    <dsp:sp modelId="{BB418B5B-403B-457A-B04D-8E81A0EF9E39}">
      <dsp:nvSpPr>
        <dsp:cNvPr id="0" name=""/>
        <dsp:cNvSpPr/>
      </dsp:nvSpPr>
      <dsp:spPr>
        <a:xfrm>
          <a:off x="0" y="2773799"/>
          <a:ext cx="10058399" cy="554499"/>
        </a:xfrm>
        <a:prstGeom prst="roundRect">
          <a:avLst>
            <a:gd name="adj" fmla="val 10000"/>
          </a:avLst>
        </a:prstGeom>
        <a:solidFill>
          <a:schemeClr val="accent1">
            <a:tint val="40000"/>
            <a:hueOff val="0"/>
            <a:satOff val="0"/>
            <a:lumOff val="0"/>
            <a:alphaOff val="0"/>
          </a:schemeClr>
        </a:solidFill>
        <a:ln w="127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FFD8D920-2B66-4170-AF13-D1244C5A9CF5}">
      <dsp:nvSpPr>
        <dsp:cNvPr id="0" name=""/>
        <dsp:cNvSpPr/>
      </dsp:nvSpPr>
      <dsp:spPr>
        <a:xfrm>
          <a:off x="167736" y="2898561"/>
          <a:ext cx="304974" cy="3049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18B15AB8-BDA4-48B9-8143-13F9C4004147}">
      <dsp:nvSpPr>
        <dsp:cNvPr id="0" name=""/>
        <dsp:cNvSpPr/>
      </dsp:nvSpPr>
      <dsp:spPr>
        <a:xfrm>
          <a:off x="640447" y="2773799"/>
          <a:ext cx="9417952" cy="554499"/>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58685" tIns="58685" rIns="58685" bIns="58685" numCol="1" spcCol="1270" anchor="ctr" anchorCtr="0">
          <a:noAutofit/>
        </a:bodyPr>
        <a:lstStyle/>
        <a:p>
          <a:pPr marL="0" lvl="0" indent="0" algn="l" defTabSz="622300">
            <a:lnSpc>
              <a:spcPct val="100000"/>
            </a:lnSpc>
            <a:spcBef>
              <a:spcPct val="0"/>
            </a:spcBef>
            <a:spcAft>
              <a:spcPct val="35000"/>
            </a:spcAft>
            <a:buNone/>
          </a:pPr>
          <a:r>
            <a:rPr lang="en-US" sz="1400" b="1" kern="1200">
              <a:latin typeface="Consolas"/>
            </a:rPr>
            <a:t>volume</a:t>
          </a:r>
          <a:r>
            <a:rPr lang="en-US" sz="1400" b="1" kern="1200"/>
            <a:t>:</a:t>
          </a:r>
          <a:r>
            <a:rPr lang="en-US" sz="1400" kern="1200"/>
            <a:t> The total quantity of shares traded, measuring market liquidity and momentum.</a:t>
          </a:r>
        </a:p>
      </dsp:txBody>
      <dsp:txXfrm>
        <a:off x="640447" y="2773799"/>
        <a:ext cx="9417952" cy="554499"/>
      </dsp:txXfrm>
    </dsp:sp>
    <dsp:sp modelId="{1E086F37-93B1-4D07-B2A1-97A3106F9BE2}">
      <dsp:nvSpPr>
        <dsp:cNvPr id="0" name=""/>
        <dsp:cNvSpPr/>
      </dsp:nvSpPr>
      <dsp:spPr>
        <a:xfrm>
          <a:off x="0" y="3466924"/>
          <a:ext cx="10058399" cy="554499"/>
        </a:xfrm>
        <a:prstGeom prst="roundRect">
          <a:avLst>
            <a:gd name="adj" fmla="val 10000"/>
          </a:avLst>
        </a:prstGeom>
        <a:solidFill>
          <a:schemeClr val="accent1">
            <a:tint val="40000"/>
            <a:hueOff val="0"/>
            <a:satOff val="0"/>
            <a:lumOff val="0"/>
            <a:alphaOff val="0"/>
          </a:schemeClr>
        </a:solidFill>
        <a:ln w="127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424DDBC0-B05B-4A68-B062-D3F40D3DF9AC}">
      <dsp:nvSpPr>
        <dsp:cNvPr id="0" name=""/>
        <dsp:cNvSpPr/>
      </dsp:nvSpPr>
      <dsp:spPr>
        <a:xfrm>
          <a:off x="167736" y="3591686"/>
          <a:ext cx="304974" cy="3049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E1108A5A-C49F-482A-A0D9-DB3A5AF243C6}">
      <dsp:nvSpPr>
        <dsp:cNvPr id="0" name=""/>
        <dsp:cNvSpPr/>
      </dsp:nvSpPr>
      <dsp:spPr>
        <a:xfrm>
          <a:off x="640447" y="3466924"/>
          <a:ext cx="9417952" cy="554499"/>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58685" tIns="58685" rIns="58685" bIns="58685" numCol="1" spcCol="1270" anchor="ctr" anchorCtr="0">
          <a:noAutofit/>
        </a:bodyPr>
        <a:lstStyle/>
        <a:p>
          <a:pPr marL="0" lvl="0" indent="0" algn="l" defTabSz="622300">
            <a:lnSpc>
              <a:spcPct val="100000"/>
            </a:lnSpc>
            <a:spcBef>
              <a:spcPct val="0"/>
            </a:spcBef>
            <a:spcAft>
              <a:spcPct val="35000"/>
            </a:spcAft>
            <a:buNone/>
          </a:pPr>
          <a:r>
            <a:rPr lang="en-US" sz="1400" b="1" kern="1200">
              <a:latin typeface="Consolas"/>
            </a:rPr>
            <a:t>Name</a:t>
          </a:r>
          <a:r>
            <a:rPr lang="en-US" sz="1400" b="1" kern="1200"/>
            <a:t>:</a:t>
          </a:r>
          <a:r>
            <a:rPr lang="en-US" sz="1400" kern="1200"/>
            <a:t> The company ticker symbol used to separate and classify data across hundreds of corporations.</a:t>
          </a:r>
          <a:endParaRPr lang="en-US" sz="1400" kern="1200">
            <a:latin typeface="Calibri Light" panose="020F0302020204030204"/>
          </a:endParaRPr>
        </a:p>
      </dsp:txBody>
      <dsp:txXfrm>
        <a:off x="640447" y="3466924"/>
        <a:ext cx="9417952" cy="55449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5A069CB8-F204-4D06-B913-C5A26A89888A}" type="datetimeFigureOut">
              <a:rPr lang="en-US" dirty="0"/>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5156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30BB376-B19C-488D-ABEB-03C7E6E9E3E0}" type="datetimeFigureOut">
              <a:rPr lang="en-US" dirty="0"/>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29637A9-119A-49DA-BD12-AAC58B377D80}" type="slidenum">
              <a:rPr lang="en-US" dirty="0"/>
              <a:t>‹#›</a:t>
            </a:fld>
            <a:endParaRPr lang="en-US" dirty="0"/>
          </a:p>
        </p:txBody>
      </p:sp>
    </p:spTree>
    <p:extLst>
      <p:ext uri="{BB962C8B-B14F-4D97-AF65-F5344CB8AC3E}">
        <p14:creationId xmlns:p14="http://schemas.microsoft.com/office/powerpoint/2010/main" val="3107353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dirty="0"/>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86F077B-A50F-4D64-8574-E2D6A98A5553}" type="datetimeFigureOut">
              <a:rPr lang="en-US" dirty="0"/>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7704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dirty="0"/>
              <a:t>Click to edit Master title style</a:t>
            </a:r>
          </a:p>
        </p:txBody>
      </p:sp>
      <p:sp>
        <p:nvSpPr>
          <p:cNvPr id="3" name="Content Placeholder 2"/>
          <p:cNvSpPr>
            <a:spLocks noGrp="1"/>
          </p:cNvSpPr>
          <p:nvPr>
            <p:ph sz="half" idx="1"/>
          </p:nvPr>
        </p:nvSpPr>
        <p:spPr>
          <a:xfrm>
            <a:off x="1097278" y="1845734"/>
            <a:ext cx="493776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D9E2A62-1983-43A1-A163-D8AA46534C80}" type="datetimeFigureOut">
              <a:rPr lang="en-US" dirty="0"/>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115255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dirty="0"/>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98F3E3B-34E3-4345-B2A1-994B83598A9C}" type="datetimeFigureOut">
              <a:rPr lang="en-US" dirty="0"/>
              <a:t>10/9/2026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801376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FD816C96-82A1-4D77-8ADA-627AC6FE3D65}" type="datetimeFigureOut">
              <a:rPr lang="en-US" dirty="0"/>
              <a:t>10/9/2026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602373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102C1E-28F2-47E9-802D-339E64E2F920}" type="datetimeFigureOut">
              <a:rPr lang="en-US" dirty="0"/>
              <a:t>10/9/2026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639110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dirty="0"/>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4271A48-F18A-45B3-BC05-1E27DA3F88AF}" type="datetimeFigureOut">
              <a:rPr lang="en-US" dirty="0"/>
              <a:t>10/9/2026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2616440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dirty="0"/>
              <a:t>Click to edit Master title style</a:t>
            </a:r>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65B747F8-9654-4282-85D2-65F41AAE7A75}" type="datetimeFigureOut">
              <a:rPr lang="en-US" dirty="0"/>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293523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0B6E300-0A13-4A81-945A-7333C271A069}" type="datetimeFigureOut">
              <a:rPr lang="en-US" dirty="0"/>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740353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4671962-1EA4-46E7-BCB0-F36CE46D1A59}" type="datetimeFigureOut">
              <a:rPr lang="en-US" dirty="0"/>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67658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DC5B261-8843-42D1-AAFC-05E20E2D9B97}" type="datetimeFigureOut">
              <a:rPr lang="en-US" dirty="0"/>
              <a:t>10/9/2026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8432663"/>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0019A4C8-BE43-456A-AF42-40F13D145E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6" y="0"/>
            <a:ext cx="4584734"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640080"/>
            <a:ext cx="3659246" cy="2926080"/>
          </a:xfrm>
        </p:spPr>
        <p:txBody>
          <a:bodyPr>
            <a:normAutofit/>
          </a:bodyPr>
          <a:lstStyle/>
          <a:p>
            <a:r>
              <a:rPr lang="en-US" sz="3400">
                <a:solidFill>
                  <a:srgbClr val="FFFFFF"/>
                </a:solidFill>
                <a:latin typeface="Trade Gothic Next Light"/>
                <a:ea typeface="+mj-lt"/>
                <a:cs typeface="Browallia New"/>
              </a:rPr>
              <a:t>Standard &amp; Poor 500 Stock Market Trend &amp; Risk Prediction Using Machine Learning</a:t>
            </a:r>
            <a:endParaRPr lang="en-US" sz="3400">
              <a:solidFill>
                <a:srgbClr val="FFFFFF"/>
              </a:solidFill>
              <a:latin typeface="Trade Gothic Next Light"/>
              <a:cs typeface="Browallia New"/>
            </a:endParaRPr>
          </a:p>
        </p:txBody>
      </p:sp>
      <p:sp>
        <p:nvSpPr>
          <p:cNvPr id="3" name="Subtitle 2"/>
          <p:cNvSpPr>
            <a:spLocks noGrp="1"/>
          </p:cNvSpPr>
          <p:nvPr>
            <p:ph type="subTitle" idx="1"/>
          </p:nvPr>
        </p:nvSpPr>
        <p:spPr>
          <a:xfrm>
            <a:off x="457200" y="3578087"/>
            <a:ext cx="3659246" cy="1554480"/>
          </a:xfrm>
        </p:spPr>
        <p:txBody>
          <a:bodyPr vert="horz" lIns="91440" tIns="45720" rIns="91440" bIns="45720" rtlCol="0" anchor="t">
            <a:normAutofit/>
          </a:bodyPr>
          <a:lstStyle/>
          <a:p>
            <a:r>
              <a:rPr lang="en-US" sz="1500" b="1">
                <a:solidFill>
                  <a:srgbClr val="FFFFFF"/>
                </a:solidFill>
                <a:ea typeface="+mn-lt"/>
                <a:cs typeface="+mn-lt"/>
              </a:rPr>
              <a:t>Group5_Cohor1</a:t>
            </a:r>
            <a:endParaRPr lang="en-US" sz="1500">
              <a:solidFill>
                <a:srgbClr val="FFFFFF"/>
              </a:solidFill>
              <a:ea typeface="+mn-lt"/>
              <a:cs typeface="+mn-lt"/>
            </a:endParaRPr>
          </a:p>
          <a:p>
            <a:r>
              <a:rPr lang="en-US" sz="1500" b="1">
                <a:solidFill>
                  <a:srgbClr val="FFFFFF"/>
                </a:solidFill>
                <a:ea typeface="+mn-lt"/>
                <a:cs typeface="+mn-lt"/>
              </a:rPr>
              <a:t>Team Members:</a:t>
            </a:r>
            <a:endParaRPr lang="en-US" sz="1500">
              <a:solidFill>
                <a:srgbClr val="FFFFFF"/>
              </a:solidFill>
              <a:ea typeface="+mn-lt"/>
              <a:cs typeface="+mn-lt"/>
            </a:endParaRPr>
          </a:p>
          <a:p>
            <a:r>
              <a:rPr lang="en-US" sz="1500" b="1">
                <a:solidFill>
                  <a:srgbClr val="FFFFFF"/>
                </a:solidFill>
                <a:ea typeface="+mn-lt"/>
                <a:cs typeface="+mn-lt"/>
              </a:rPr>
              <a:t>  Raghad |Qusy | Ghufran | Sajeda | Tasneem</a:t>
            </a:r>
            <a:endParaRPr lang="en-US" sz="1500">
              <a:solidFill>
                <a:srgbClr val="FFFFFF"/>
              </a:solidFill>
              <a:ea typeface="+mn-lt"/>
              <a:cs typeface="+mn-lt"/>
            </a:endParaRPr>
          </a:p>
          <a:p>
            <a:endParaRPr lang="en-US" sz="1500">
              <a:solidFill>
                <a:srgbClr val="FFFFFF"/>
              </a:solidFill>
            </a:endParaRPr>
          </a:p>
        </p:txBody>
      </p:sp>
      <p:pic>
        <p:nvPicPr>
          <p:cNvPr id="32" name="Picture 31" descr="Graphs and plots layered on a blue digital screen">
            <a:extLst>
              <a:ext uri="{FF2B5EF4-FFF2-40B4-BE49-F238E27FC236}">
                <a16:creationId xmlns:a16="http://schemas.microsoft.com/office/drawing/2014/main" id="{C639BDD3-350C-8A5A-798A-19F8ADFA847E}"/>
              </a:ext>
            </a:extLst>
          </p:cNvPr>
          <p:cNvPicPr>
            <a:picLocks noChangeAspect="1"/>
          </p:cNvPicPr>
          <p:nvPr/>
        </p:nvPicPr>
        <p:blipFill>
          <a:blip r:embed="rId2"/>
          <a:srcRect l="5948" r="11463" b="4"/>
          <a:stretch>
            <a:fillRect/>
          </a:stretch>
        </p:blipFill>
        <p:spPr>
          <a:xfrm>
            <a:off x="4639733" y="10"/>
            <a:ext cx="7552266" cy="6857990"/>
          </a:xfrm>
          <a:prstGeom prst="rect">
            <a:avLst/>
          </a:prstGeom>
        </p:spPr>
      </p:pic>
      <p:sp>
        <p:nvSpPr>
          <p:cNvPr id="33" name="Rectangle 32">
            <a:extLst>
              <a:ext uri="{FF2B5EF4-FFF2-40B4-BE49-F238E27FC236}">
                <a16:creationId xmlns:a16="http://schemas.microsoft.com/office/drawing/2014/main" id="{7F73CF34-5321-4224-9257-582F661F2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475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3B4F2-2D55-D5DC-346F-973F72C2C342}"/>
              </a:ext>
            </a:extLst>
          </p:cNvPr>
          <p:cNvSpPr>
            <a:spLocks noGrp="1"/>
          </p:cNvSpPr>
          <p:nvPr>
            <p:ph type="title"/>
          </p:nvPr>
        </p:nvSpPr>
        <p:spPr>
          <a:xfrm>
            <a:off x="1097280" y="286603"/>
            <a:ext cx="10058400" cy="1450757"/>
          </a:xfrm>
        </p:spPr>
        <p:txBody>
          <a:bodyPr>
            <a:normAutofit/>
          </a:bodyPr>
          <a:lstStyle/>
          <a:p>
            <a:r>
              <a:rPr lang="en-US">
                <a:ea typeface="+mj-lt"/>
                <a:cs typeface="+mj-lt"/>
              </a:rPr>
              <a:t>Problem Statement &amp; Scope</a:t>
            </a:r>
            <a:endParaRPr lang="en-US"/>
          </a:p>
        </p:txBody>
      </p:sp>
      <p:sp>
        <p:nvSpPr>
          <p:cNvPr id="21" name="Content Placeholder 2">
            <a:extLst>
              <a:ext uri="{FF2B5EF4-FFF2-40B4-BE49-F238E27FC236}">
                <a16:creationId xmlns:a16="http://schemas.microsoft.com/office/drawing/2014/main" id="{B8E2118A-79D3-E9F4-ED88-466B28004A18}"/>
              </a:ext>
            </a:extLst>
          </p:cNvPr>
          <p:cNvSpPr>
            <a:spLocks noGrp="1"/>
          </p:cNvSpPr>
          <p:nvPr>
            <p:ph idx="1"/>
          </p:nvPr>
        </p:nvSpPr>
        <p:spPr>
          <a:xfrm>
            <a:off x="1097279" y="1845734"/>
            <a:ext cx="6454987" cy="4023360"/>
          </a:xfrm>
        </p:spPr>
        <p:txBody>
          <a:bodyPr vert="horz" lIns="0" tIns="45720" rIns="0" bIns="45720" rtlCol="0" anchor="t">
            <a:normAutofit/>
          </a:bodyPr>
          <a:lstStyle/>
          <a:p>
            <a:pPr>
              <a:buFont typeface="Wingdings" panose="020F0502020204030204" pitchFamily="34" charset="0"/>
              <a:buChar char="Ø"/>
            </a:pPr>
            <a:r>
              <a:rPr lang="en-US" sz="1900" b="1">
                <a:ea typeface="+mn-lt"/>
                <a:cs typeface="+mn-lt"/>
              </a:rPr>
              <a:t>  Problem Statement:</a:t>
            </a:r>
            <a:r>
              <a:rPr lang="en-US" sz="1900">
                <a:ea typeface="+mn-lt"/>
                <a:cs typeface="+mn-lt"/>
              </a:rPr>
              <a:t> Global financial markets (such as the S&amp;P 500 index) are  characterized by sharp and random price fluctuations driven by economic factors and investor sentiment. This makes price direction prediction extremely difficult and carries high risks of financial loss.</a:t>
            </a:r>
          </a:p>
          <a:p>
            <a:pPr>
              <a:buFont typeface="Wingdings" panose="020F0502020204030204" pitchFamily="34" charset="0"/>
              <a:buChar char="Ø"/>
            </a:pPr>
            <a:endParaRPr lang="en-US" sz="1900">
              <a:ea typeface="Calibri" panose="020F0502020204030204"/>
              <a:cs typeface="Calibri" panose="020F0502020204030204"/>
            </a:endParaRPr>
          </a:p>
          <a:p>
            <a:pPr>
              <a:buFont typeface="Wingdings" panose="020F0502020204030204" pitchFamily="34" charset="0"/>
              <a:buChar char="Ø"/>
            </a:pPr>
            <a:r>
              <a:rPr lang="en-US" sz="1900" b="1">
                <a:ea typeface="+mn-lt"/>
                <a:cs typeface="+mn-lt"/>
              </a:rPr>
              <a:t>   Scope &amp; Limitations:</a:t>
            </a:r>
            <a:r>
              <a:rPr lang="en-US" sz="1900">
                <a:ea typeface="+mn-lt"/>
                <a:cs typeface="+mn-lt"/>
              </a:rPr>
              <a:t> Although stock markets are influenced by macro-level factors (such as macroeconomic indicators, interest rates, political news, and corporate earnings), this project focuses in its current phase on building a predictive model based on historical price action, trading volume, and technical indicators derived from them as a baseline, leaving room for future expansion to include macroeconomic variables.</a:t>
            </a:r>
            <a:endParaRPr lang="en-US" sz="1900">
              <a:ea typeface="Calibri" panose="020F0502020204030204"/>
              <a:cs typeface="Calibri" panose="020F0502020204030204"/>
            </a:endParaRPr>
          </a:p>
        </p:txBody>
      </p:sp>
      <p:pic>
        <p:nvPicPr>
          <p:cNvPr id="18" name="Picture 17" descr="Digital graph of stock market">
            <a:extLst>
              <a:ext uri="{FF2B5EF4-FFF2-40B4-BE49-F238E27FC236}">
                <a16:creationId xmlns:a16="http://schemas.microsoft.com/office/drawing/2014/main" id="{00D60A58-E651-FFD1-AB4C-74FE9FA1ED00}"/>
              </a:ext>
            </a:extLst>
          </p:cNvPr>
          <p:cNvPicPr>
            <a:picLocks noChangeAspect="1"/>
          </p:cNvPicPr>
          <p:nvPr/>
        </p:nvPicPr>
        <p:blipFill>
          <a:blip r:embed="rId2"/>
          <a:srcRect l="18671" r="31255" b="4"/>
          <a:stretch>
            <a:fillRect/>
          </a:stretch>
        </p:blipFill>
        <p:spPr>
          <a:xfrm>
            <a:off x="8429362" y="1916318"/>
            <a:ext cx="2317525" cy="3471012"/>
          </a:xfrm>
          <a:prstGeom prst="rect">
            <a:avLst/>
          </a:prstGeom>
        </p:spPr>
      </p:pic>
    </p:spTree>
    <p:extLst>
      <p:ext uri="{BB962C8B-B14F-4D97-AF65-F5344CB8AC3E}">
        <p14:creationId xmlns:p14="http://schemas.microsoft.com/office/powerpoint/2010/main" val="2099851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Calculator, pen, compass, money and a paper with graphs printed on it">
            <a:extLst>
              <a:ext uri="{FF2B5EF4-FFF2-40B4-BE49-F238E27FC236}">
                <a16:creationId xmlns:a16="http://schemas.microsoft.com/office/drawing/2014/main" id="{2787D7A9-F28D-8A00-6728-B68D5B5D0F45}"/>
              </a:ext>
            </a:extLst>
          </p:cNvPr>
          <p:cNvPicPr>
            <a:picLocks noChangeAspect="1"/>
          </p:cNvPicPr>
          <p:nvPr/>
        </p:nvPicPr>
        <p:blipFill>
          <a:blip r:embed="rId2">
            <a:duotone>
              <a:schemeClr val="bg2">
                <a:shade val="45000"/>
                <a:satMod val="135000"/>
              </a:schemeClr>
              <a:prstClr val="white"/>
            </a:duotone>
            <a:alphaModFix amt="35000"/>
          </a:blip>
          <a:srcRect t="6796" r="-2" b="-2"/>
          <a:stretch>
            <a:fillRect/>
          </a:stretch>
        </p:blipFill>
        <p:spPr>
          <a:xfrm>
            <a:off x="20" y="10"/>
            <a:ext cx="12191980" cy="6857990"/>
          </a:xfrm>
          <a:prstGeom prst="rect">
            <a:avLst/>
          </a:prstGeom>
        </p:spPr>
      </p:pic>
      <p:cxnSp>
        <p:nvCxnSpPr>
          <p:cNvPr id="9" name="Straight Connector 8">
            <a:extLst>
              <a:ext uri="{FF2B5EF4-FFF2-40B4-BE49-F238E27FC236}">
                <a16:creationId xmlns:a16="http://schemas.microsoft.com/office/drawing/2014/main" id="{8D46104E-653E-4816-AAEB-4211685E41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077B97D-E827-498E-3D90-03824B4A562A}"/>
              </a:ext>
            </a:extLst>
          </p:cNvPr>
          <p:cNvSpPr>
            <a:spLocks noGrp="1"/>
          </p:cNvSpPr>
          <p:nvPr>
            <p:ph type="title"/>
          </p:nvPr>
        </p:nvSpPr>
        <p:spPr>
          <a:xfrm>
            <a:off x="1097280" y="286603"/>
            <a:ext cx="10058400" cy="1450757"/>
          </a:xfrm>
        </p:spPr>
        <p:txBody>
          <a:bodyPr>
            <a:normAutofit/>
          </a:bodyPr>
          <a:lstStyle/>
          <a:p>
            <a:r>
              <a:rPr lang="en-US" dirty="0">
                <a:ea typeface="+mj-lt"/>
                <a:cs typeface="+mj-lt"/>
              </a:rPr>
              <a:t>Significance &amp; Objectives</a:t>
            </a:r>
            <a:endParaRPr lang="en-US" dirty="0"/>
          </a:p>
        </p:txBody>
      </p:sp>
      <p:sp>
        <p:nvSpPr>
          <p:cNvPr id="3" name="Content Placeholder 2">
            <a:extLst>
              <a:ext uri="{FF2B5EF4-FFF2-40B4-BE49-F238E27FC236}">
                <a16:creationId xmlns:a16="http://schemas.microsoft.com/office/drawing/2014/main" id="{EF2E4FA6-2B6C-44CC-3B8D-4BC7719783BB}"/>
              </a:ext>
            </a:extLst>
          </p:cNvPr>
          <p:cNvSpPr>
            <a:spLocks noGrp="1"/>
          </p:cNvSpPr>
          <p:nvPr>
            <p:ph idx="1"/>
          </p:nvPr>
        </p:nvSpPr>
        <p:spPr>
          <a:xfrm>
            <a:off x="1097280" y="1845734"/>
            <a:ext cx="10058400" cy="4023360"/>
          </a:xfrm>
        </p:spPr>
        <p:txBody>
          <a:bodyPr vert="horz" lIns="0" tIns="45720" rIns="0" bIns="45720" rtlCol="0" anchor="t">
            <a:normAutofit/>
          </a:bodyPr>
          <a:lstStyle/>
          <a:p>
            <a:pPr>
              <a:buFont typeface="Arial" panose="020F0502020204030204" pitchFamily="34" charset="0"/>
              <a:buChar char="•"/>
            </a:pPr>
            <a:r>
              <a:rPr lang="en-US" b="1" dirty="0">
                <a:ea typeface="+mn-lt"/>
                <a:cs typeface="+mn-lt"/>
              </a:rPr>
              <a:t>Project Significance:</a:t>
            </a:r>
            <a:r>
              <a:rPr lang="en-US" dirty="0">
                <a:ea typeface="+mn-lt"/>
                <a:cs typeface="+mn-lt"/>
              </a:rPr>
              <a:t> Providing proactive, data-driven insights to minimize risks and financial losses for investors instead of relying purely on human intuition.</a:t>
            </a:r>
            <a:endParaRPr lang="en-US">
              <a:ea typeface="Calibri" panose="020F0502020204030204"/>
              <a:cs typeface="Calibri" panose="020F0502020204030204"/>
            </a:endParaRPr>
          </a:p>
          <a:p>
            <a:pPr>
              <a:buFont typeface="Arial" panose="020F0502020204030204" pitchFamily="34" charset="0"/>
              <a:buChar char="•"/>
            </a:pPr>
            <a:endParaRPr lang="en-US" dirty="0">
              <a:ea typeface="Calibri" panose="020F0502020204030204"/>
              <a:cs typeface="Calibri" panose="020F0502020204030204"/>
            </a:endParaRPr>
          </a:p>
          <a:p>
            <a:pPr>
              <a:buFont typeface="Arial" panose="020F0502020204030204" pitchFamily="34" charset="0"/>
              <a:buChar char="•"/>
            </a:pPr>
            <a:r>
              <a:rPr lang="en-US" b="1" dirty="0">
                <a:ea typeface="+mn-lt"/>
                <a:cs typeface="+mn-lt"/>
              </a:rPr>
              <a:t>Model Objectives &amp; Outcomes:</a:t>
            </a:r>
            <a:endParaRPr lang="en-US" dirty="0">
              <a:ea typeface="Calibri" panose="020F0502020204030204"/>
              <a:cs typeface="Calibri" panose="020F0502020204030204"/>
            </a:endParaRPr>
          </a:p>
          <a:p>
            <a:pPr>
              <a:buFont typeface="Arial" panose="020F0502020204030204" pitchFamily="34" charset="0"/>
              <a:buChar char="•"/>
            </a:pPr>
            <a:r>
              <a:rPr lang="en-US" dirty="0">
                <a:ea typeface="+mn-lt"/>
                <a:cs typeface="+mn-lt"/>
              </a:rPr>
              <a:t>Engineering a Target Variable to predict the price direction of the next trading session (Up vs. Down).</a:t>
            </a:r>
            <a:endParaRPr lang="en-US" dirty="0">
              <a:ea typeface="Calibri" panose="020F0502020204030204"/>
              <a:cs typeface="Calibri" panose="020F0502020204030204"/>
            </a:endParaRPr>
          </a:p>
          <a:p>
            <a:pPr>
              <a:buFont typeface="Arial" panose="020F0502020204030204" pitchFamily="34" charset="0"/>
              <a:buChar char="•"/>
            </a:pPr>
            <a:r>
              <a:rPr lang="en-US" dirty="0">
                <a:ea typeface="+mn-lt"/>
                <a:cs typeface="+mn-lt"/>
              </a:rPr>
              <a:t>Assisting investors in reducing the risk of capital loss through data-backed trading decisions.</a:t>
            </a:r>
            <a:endParaRPr lang="en-US">
              <a:ea typeface="+mn-lt"/>
              <a:cs typeface="+mn-lt"/>
            </a:endParaRPr>
          </a:p>
          <a:p>
            <a:pPr>
              <a:buFont typeface="Arial" panose="020F0502020204030204" pitchFamily="34" charset="0"/>
              <a:buChar char="•"/>
            </a:pPr>
            <a:endParaRPr lang="en-US" dirty="0">
              <a:ea typeface="+mn-lt"/>
              <a:cs typeface="+mn-lt"/>
            </a:endParaRPr>
          </a:p>
          <a:p>
            <a:pPr>
              <a:buFont typeface="Arial" panose="020F0502020204030204" pitchFamily="34" charset="0"/>
              <a:buChar char="•"/>
            </a:pPr>
            <a:endParaRPr lang="en-US" dirty="0">
              <a:ea typeface="Calibri" panose="020F0502020204030204"/>
              <a:cs typeface="Calibri" panose="020F0502020204030204"/>
            </a:endParaRPr>
          </a:p>
          <a:p>
            <a:pPr>
              <a:buFont typeface="Arial" panose="020F0502020204030204" pitchFamily="34" charset="0"/>
              <a:buChar char="•"/>
            </a:pPr>
            <a:endParaRPr lang="en-US" dirty="0">
              <a:ea typeface="Calibri" panose="020F0502020204030204"/>
              <a:cs typeface="Calibri" panose="020F0502020204030204"/>
            </a:endParaRPr>
          </a:p>
        </p:txBody>
      </p:sp>
      <p:sp>
        <p:nvSpPr>
          <p:cNvPr id="11" name="Rectangle 10">
            <a:extLst>
              <a:ext uri="{FF2B5EF4-FFF2-40B4-BE49-F238E27FC236}">
                <a16:creationId xmlns:a16="http://schemas.microsoft.com/office/drawing/2014/main" id="{A35B60BD-D465-494B-94F6-885E5E29B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130CC877-DB14-4DAD-BD23-63D3E97ED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3645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539C5-191F-553F-7A5C-CD7303C89858}"/>
              </a:ext>
            </a:extLst>
          </p:cNvPr>
          <p:cNvSpPr>
            <a:spLocks noGrp="1"/>
          </p:cNvSpPr>
          <p:nvPr>
            <p:ph type="title"/>
          </p:nvPr>
        </p:nvSpPr>
        <p:spPr/>
        <p:txBody>
          <a:bodyPr/>
          <a:lstStyle/>
          <a:p>
            <a:r>
              <a:rPr lang="en-US" dirty="0">
                <a:ea typeface="+mj-lt"/>
                <a:cs typeface="+mj-lt"/>
              </a:rPr>
              <a:t>Dataset Detailed Breakdown</a:t>
            </a:r>
            <a:endParaRPr lang="en-US" dirty="0"/>
          </a:p>
        </p:txBody>
      </p:sp>
      <p:graphicFrame>
        <p:nvGraphicFramePr>
          <p:cNvPr id="70" name="Content Placeholder 69">
            <a:extLst>
              <a:ext uri="{FF2B5EF4-FFF2-40B4-BE49-F238E27FC236}">
                <a16:creationId xmlns:a16="http://schemas.microsoft.com/office/drawing/2014/main" id="{F5ACFE9A-9C6A-E464-15F9-945C80F7B784}"/>
              </a:ext>
            </a:extLst>
          </p:cNvPr>
          <p:cNvGraphicFramePr>
            <a:graphicFrameLocks noGrp="1"/>
          </p:cNvGraphicFramePr>
          <p:nvPr>
            <p:ph idx="1"/>
            <p:extLst>
              <p:ext uri="{D42A27DB-BD31-4B8C-83A1-F6EECF244321}">
                <p14:modId xmlns:p14="http://schemas.microsoft.com/office/powerpoint/2010/main" val="339122815"/>
              </p:ext>
            </p:extLst>
          </p:nvPr>
        </p:nvGraphicFramePr>
        <p:xfrm>
          <a:off x="1096963" y="1846263"/>
          <a:ext cx="100584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75105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79774D8-8540-48E4-923D-4F2A21A074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48258C6-81CC-4C42-B916-9D2550D61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590273"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827FC281-8240-FBFB-5237-1586E89E2131}"/>
              </a:ext>
            </a:extLst>
          </p:cNvPr>
          <p:cNvSpPr>
            <a:spLocks noGrp="1"/>
          </p:cNvSpPr>
          <p:nvPr>
            <p:ph type="title"/>
          </p:nvPr>
        </p:nvSpPr>
        <p:spPr>
          <a:xfrm>
            <a:off x="492369" y="516835"/>
            <a:ext cx="3735502" cy="2103875"/>
          </a:xfrm>
        </p:spPr>
        <p:txBody>
          <a:bodyPr>
            <a:normAutofit/>
          </a:bodyPr>
          <a:lstStyle/>
          <a:p>
            <a:r>
              <a:rPr lang="en-US" sz="3600">
                <a:solidFill>
                  <a:srgbClr val="FFFFFF"/>
                </a:solidFill>
                <a:ea typeface="+mj-lt"/>
                <a:cs typeface="+mj-lt"/>
              </a:rPr>
              <a:t>Code Execution &amp; Outputs:</a:t>
            </a:r>
            <a:endParaRPr lang="en-US" sz="3600">
              <a:solidFill>
                <a:srgbClr val="FFFFFF"/>
              </a:solidFill>
            </a:endParaRPr>
          </a:p>
        </p:txBody>
      </p:sp>
      <p:sp>
        <p:nvSpPr>
          <p:cNvPr id="18" name="Rectangle 17">
            <a:extLst>
              <a:ext uri="{FF2B5EF4-FFF2-40B4-BE49-F238E27FC236}">
                <a16:creationId xmlns:a16="http://schemas.microsoft.com/office/drawing/2014/main" id="{29C049BC-66AD-454E-982D-C9EBB75C80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0679"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a:extLst>
              <a:ext uri="{FF2B5EF4-FFF2-40B4-BE49-F238E27FC236}">
                <a16:creationId xmlns:a16="http://schemas.microsoft.com/office/drawing/2014/main" id="{568E67DF-B8FC-4079-84A6-0A3BA25B89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6279" y="0"/>
            <a:ext cx="3610035" cy="3355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computer&#10;&#10;AI-generated content may be incorrect.">
            <a:extLst>
              <a:ext uri="{FF2B5EF4-FFF2-40B4-BE49-F238E27FC236}">
                <a16:creationId xmlns:a16="http://schemas.microsoft.com/office/drawing/2014/main" id="{4EC94B24-F9DC-0F53-508F-97CF29F35D7D}"/>
              </a:ext>
            </a:extLst>
          </p:cNvPr>
          <p:cNvPicPr>
            <a:picLocks noChangeAspect="1"/>
          </p:cNvPicPr>
          <p:nvPr/>
        </p:nvPicPr>
        <p:blipFill>
          <a:blip r:embed="rId2"/>
          <a:stretch>
            <a:fillRect/>
          </a:stretch>
        </p:blipFill>
        <p:spPr>
          <a:xfrm>
            <a:off x="4621668" y="-2041"/>
            <a:ext cx="3961038" cy="3367768"/>
          </a:xfrm>
          <a:prstGeom prst="rect">
            <a:avLst/>
          </a:prstGeom>
        </p:spPr>
      </p:pic>
      <p:pic>
        <p:nvPicPr>
          <p:cNvPr id="8" name="Picture 7" descr="A screenshot of a computer code&#10;&#10;AI-generated content may be incorrect.">
            <a:extLst>
              <a:ext uri="{FF2B5EF4-FFF2-40B4-BE49-F238E27FC236}">
                <a16:creationId xmlns:a16="http://schemas.microsoft.com/office/drawing/2014/main" id="{BA4E33F5-AAC4-4131-8A88-5236623EEA0B}"/>
              </a:ext>
            </a:extLst>
          </p:cNvPr>
          <p:cNvPicPr>
            <a:picLocks noChangeAspect="1"/>
          </p:cNvPicPr>
          <p:nvPr/>
        </p:nvPicPr>
        <p:blipFill>
          <a:blip r:embed="rId3"/>
          <a:stretch>
            <a:fillRect/>
          </a:stretch>
        </p:blipFill>
        <p:spPr>
          <a:xfrm>
            <a:off x="8579984" y="-4082"/>
            <a:ext cx="3599089" cy="3360965"/>
          </a:xfrm>
          <a:prstGeom prst="rect">
            <a:avLst/>
          </a:prstGeom>
        </p:spPr>
      </p:pic>
      <p:pic>
        <p:nvPicPr>
          <p:cNvPr id="9" name="Picture 8" descr="A table with numbers and letters&#10;&#10;AI-generated content may be incorrect.">
            <a:extLst>
              <a:ext uri="{FF2B5EF4-FFF2-40B4-BE49-F238E27FC236}">
                <a16:creationId xmlns:a16="http://schemas.microsoft.com/office/drawing/2014/main" id="{9B09DF34-9844-8CDE-F446-D29084CCE7DD}"/>
              </a:ext>
            </a:extLst>
          </p:cNvPr>
          <p:cNvPicPr>
            <a:picLocks noChangeAspect="1"/>
          </p:cNvPicPr>
          <p:nvPr/>
        </p:nvPicPr>
        <p:blipFill>
          <a:blip r:embed="rId4"/>
          <a:stretch>
            <a:fillRect/>
          </a:stretch>
        </p:blipFill>
        <p:spPr>
          <a:xfrm>
            <a:off x="4590371" y="3349399"/>
            <a:ext cx="7605031" cy="3512003"/>
          </a:xfrm>
          <a:prstGeom prst="rect">
            <a:avLst/>
          </a:prstGeom>
        </p:spPr>
      </p:pic>
    </p:spTree>
    <p:extLst>
      <p:ext uri="{BB962C8B-B14F-4D97-AF65-F5344CB8AC3E}">
        <p14:creationId xmlns:p14="http://schemas.microsoft.com/office/powerpoint/2010/main" val="1383946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erial view of a highway near the ocean">
            <a:extLst>
              <a:ext uri="{FF2B5EF4-FFF2-40B4-BE49-F238E27FC236}">
                <a16:creationId xmlns:a16="http://schemas.microsoft.com/office/drawing/2014/main" id="{E8BE661D-A86C-C9DE-C5DC-6DC37D43FEE6}"/>
              </a:ext>
            </a:extLst>
          </p:cNvPr>
          <p:cNvPicPr>
            <a:picLocks noChangeAspect="1"/>
          </p:cNvPicPr>
          <p:nvPr/>
        </p:nvPicPr>
        <p:blipFill>
          <a:blip r:embed="rId2">
            <a:duotone>
              <a:schemeClr val="bg2">
                <a:shade val="45000"/>
                <a:satMod val="135000"/>
              </a:schemeClr>
              <a:prstClr val="white"/>
            </a:duotone>
            <a:alphaModFix amt="35000"/>
          </a:blip>
          <a:srcRect t="5858" b="19142"/>
          <a:stretch>
            <a:fillRect/>
          </a:stretch>
        </p:blipFill>
        <p:spPr>
          <a:xfrm>
            <a:off x="20" y="10"/>
            <a:ext cx="12191980" cy="6857990"/>
          </a:xfrm>
          <a:prstGeom prst="rect">
            <a:avLst/>
          </a:prstGeom>
        </p:spPr>
      </p:pic>
      <p:cxnSp>
        <p:nvCxnSpPr>
          <p:cNvPr id="16" name="Straight Connector 15">
            <a:extLst>
              <a:ext uri="{FF2B5EF4-FFF2-40B4-BE49-F238E27FC236}">
                <a16:creationId xmlns:a16="http://schemas.microsoft.com/office/drawing/2014/main" id="{8D46104E-653E-4816-AAEB-4211685E41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C24428D-D96B-B465-B7F8-E746506A7B99}"/>
              </a:ext>
            </a:extLst>
          </p:cNvPr>
          <p:cNvSpPr>
            <a:spLocks noGrp="1"/>
          </p:cNvSpPr>
          <p:nvPr>
            <p:ph idx="1"/>
          </p:nvPr>
        </p:nvSpPr>
        <p:spPr>
          <a:xfrm>
            <a:off x="1097280" y="1845734"/>
            <a:ext cx="10058400" cy="4023360"/>
          </a:xfrm>
        </p:spPr>
        <p:txBody>
          <a:bodyPr vert="horz" lIns="0" tIns="45720" rIns="0" bIns="45720" rtlCol="0" anchor="t">
            <a:normAutofit/>
          </a:bodyPr>
          <a:lstStyle/>
          <a:p>
            <a:r>
              <a:rPr lang="en-US" sz="3200" dirty="0">
                <a:ea typeface="Calibri"/>
                <a:cs typeface="Calibri"/>
              </a:rPr>
              <a:t>Thank You</a:t>
            </a:r>
          </a:p>
        </p:txBody>
      </p:sp>
      <p:sp>
        <p:nvSpPr>
          <p:cNvPr id="18" name="Rectangle 17">
            <a:extLst>
              <a:ext uri="{FF2B5EF4-FFF2-40B4-BE49-F238E27FC236}">
                <a16:creationId xmlns:a16="http://schemas.microsoft.com/office/drawing/2014/main" id="{A35B60BD-D465-494B-94F6-885E5E29B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a:extLst>
              <a:ext uri="{FF2B5EF4-FFF2-40B4-BE49-F238E27FC236}">
                <a16:creationId xmlns:a16="http://schemas.microsoft.com/office/drawing/2014/main" id="{130CC877-DB14-4DAD-BD23-63D3E97ED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41680278"/>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Retrospect</vt:lpstr>
      <vt:lpstr>Standard &amp; Poor 500 Stock Market Trend &amp; Risk Prediction Using Machine Learning</vt:lpstr>
      <vt:lpstr>Problem Statement &amp; Scope</vt:lpstr>
      <vt:lpstr>Significance &amp; Objectives</vt:lpstr>
      <vt:lpstr>Dataset Detailed Breakdown</vt:lpstr>
      <vt:lpstr>Code Execution &amp; Outputs: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173</cp:revision>
  <dcterms:created xsi:type="dcterms:W3CDTF">2026-10-06T17:29:13Z</dcterms:created>
  <dcterms:modified xsi:type="dcterms:W3CDTF">2026-10-09T17:46:30Z</dcterms:modified>
</cp:coreProperties>
</file>